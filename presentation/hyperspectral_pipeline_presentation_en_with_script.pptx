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51ff7ba58a4559" /><Relationship Type="http://schemas.openxmlformats.org/officeDocument/2006/relationships/extended-properties" Target="/docProps/app.xml" Id="R3ae8c9886cdc46dd" /><Relationship Type="http://schemas.openxmlformats.org/officeDocument/2006/relationships/officeDocument" Target="/ppt/presentation.xml" Id="Re2cf40bcec314f14" /></Relationships>
</file>

<file path=ppt/presentation.xml><?xml version="1.0" encoding="utf-8"?>
<p:presentation xmlns:p="http://schemas.openxmlformats.org/presentationml/2006/main">
  <p:sldMasterIdLst>
    <p:sldMasterId xmlns:r="http://schemas.openxmlformats.org/officeDocument/2006/relationships" id="2147483648" r:id="R8d9822b76965416f"/>
  </p:sldMasterIdLst>
  <p:notesMasterIdLst>
    <p:notesMasterId xmlns:r="http://schemas.openxmlformats.org/officeDocument/2006/relationships" r:id="R1acbe75246cf4143"/>
  </p:notesMasterIdLst>
  <p:sldIdLst>
    <p:sldId xmlns:r="http://schemas.openxmlformats.org/officeDocument/2006/relationships" id="256" r:id="R45481c98fa0f4766"/>
    <p:sldId xmlns:r="http://schemas.openxmlformats.org/officeDocument/2006/relationships" id="257" r:id="Rf99b99b820124070"/>
    <p:sldId xmlns:r="http://schemas.openxmlformats.org/officeDocument/2006/relationships" id="258" r:id="Rce59a6e5e9a54c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282e4936d043ae" /><Relationship Type="http://schemas.openxmlformats.org/officeDocument/2006/relationships/slideMaster" Target="/ppt/slideMasters/slideMaster1.xml" Id="R8d9822b76965416f" /><Relationship Type="http://schemas.openxmlformats.org/officeDocument/2006/relationships/notesMaster" Target="/ppt/notesMasters/notesMaster1.xml" Id="R1acbe75246cf4143" /><Relationship Type="http://schemas.openxmlformats.org/officeDocument/2006/relationships/presProps" Target="/ppt/presProps.xml" Id="R73a2c9087b9e4564" /><Relationship Type="http://schemas.openxmlformats.org/officeDocument/2006/relationships/tableStyles" Target="/ppt/tableStyles.xml" Id="R1765208a51a14259" /><Relationship Type="http://schemas.openxmlformats.org/officeDocument/2006/relationships/slide" Target="/ppt/slides/slide1.xml" Id="R45481c98fa0f4766" /><Relationship Type="http://schemas.openxmlformats.org/officeDocument/2006/relationships/slide" Target="/ppt/slides/slide2.xml" Id="Rf99b99b820124070" /><Relationship Type="http://schemas.openxmlformats.org/officeDocument/2006/relationships/slide" Target="/ppt/slides/slide3.xml" Id="Rce59a6e5e9a54c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dfdab438f049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544b51b0954073" /><Relationship Type="http://schemas.openxmlformats.org/officeDocument/2006/relationships/notesMaster" Target="/ppt/notesMasters/notesMaster1.xml" Id="R7453ec55d63944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89d37ce5d4405b" /><Relationship Type="http://schemas.openxmlformats.org/officeDocument/2006/relationships/notesMaster" Target="/ppt/notesMasters/notesMaster1.xml" Id="Rff656fb9882141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0cc4e18d9540f0" /><Relationship Type="http://schemas.openxmlformats.org/officeDocument/2006/relationships/notesMaster" Target="/ppt/notesMasters/notesMaster1.xml" Id="Rb1f6ab05058644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presentation script</a:t>
            </a:r>
          </a:p>
          <a:p xmlns:a="http://schemas.openxmlformats.org/drawingml/2006/main">
            <a:r>
              <a:t>Today I will introduce a workflow that turns large field hyperspectral datasets into research-ready results.</a:t>
            </a:r>
          </a:p>
          <a:p xmlns:a="http://schemas.openxmlformats.org/drawingml/2006/main">
            <a:r>
              <a:t>The pipeline loads CERES or BIL data, converts raw measurements to reflectance using a white panel and sensor dark, performs clustering and ROI analysis, and generates automated reports.</a:t>
            </a:r>
          </a:p>
          <a:p xmlns:a="http://schemas.openxmlformats.org/drawingml/2006/main">
            <a:r>
              <a:t>The goal is not to add more complicated options. It is to help the research team review repeated field measurements quickly, consistently, and with a clear record of the processing decisions.</a:t>
            </a:r>
          </a:p>
          <a:p xmlns:a="http://schemas.openxmlformats.org/drawingml/2006/main">
            <a:r>
              <a:t>The next slide summarizes the workflow in five steps.</a:t>
            </a:r>
          </a:p>
          <a:p xmlns:a="http://schemas.openxmlformats.org/drawingml/2006/main">
            <a:r>
              <a:t>[Sources]</a:t>
            </a:r>
          </a:p>
          <a:p xmlns:a="http://schemas.openxmlformats.org/drawingml/2006/main">
            <a:r>
              <a:t>- Internal project workflow based on user-provided requirements.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presentation script</a:t>
            </a:r>
          </a:p>
          <a:p xmlns:a="http://schemas.openxmlformats.org/drawingml/2006/main">
            <a:r>
              <a:t>The workflow has five main steps.</a:t>
            </a:r>
          </a:p>
          <a:p xmlns:a="http://schemas.openxmlformats.org/drawingml/2006/main">
            <a:r>
              <a:t>First, we select an acquisition inside a CERES file or open an existing BIL and HDR dataset. Second, we apply reflectance calibration using a white panel and the sensor dark signal.</a:t>
            </a:r>
          </a:p>
          <a:p xmlns:a="http://schemas.openxmlformats.org/drawingml/2006/main">
            <a:r>
              <a:t>Third, we cluster the full image to separate leaves, soil, shadows, and strongly illuminated regions. Fourth, we inspect the color overlay on the RGB preview and define the regions of interest. Finally, we save the results as HTML, Excel, CSV, and image files, and we can also generate a daily summary across plots.</a:t>
            </a:r>
          </a:p>
          <a:p xmlns:a="http://schemas.openxmlformats.org/drawingml/2006/main">
            <a:r>
              <a:t>One important distinction is that normalized Raw DN is the recommended default for clustering, while research-ready spectra and vegetation indices also include the QC-approved calibrated reflectance.</a:t>
            </a:r>
          </a:p>
          <a:p xmlns:a="http://schemas.openxmlformats.org/drawingml/2006/main">
            <a:r>
              <a:t>[Sources]</a:t>
            </a:r>
          </a:p>
          <a:p xmlns:a="http://schemas.openxmlformats.org/drawingml/2006/main">
            <a:r>
              <a:t>- Internal project workflow based on user-provided requirements.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presentation script</a:t>
            </a:r>
          </a:p>
          <a:p xmlns:a="http://schemas.openxmlformats.org/drawingml/2006/main">
            <a:r>
              <a:t>In more detail, the workflow has three operational sections: input and calibration, global analysis, and ROI-based reporting.</a:t>
            </a:r>
          </a:p>
          <a:p xmlns:a="http://schemas.openxmlformats.org/drawingml/2006/main">
            <a:r>
              <a:t>We begin by selecting a CERES entry or a BIL dataset. The calibration profile is created from the white-panel measurement and sensor dark. Before it is accepted, the software checks for saturated bands, step-like discontinuities near 800 nanometers, valid wavelength coverage, and overall spectral continuity.</a:t>
            </a:r>
          </a:p>
          <a:p xmlns:a="http://schemas.openxmlformats.org/drawingml/2006/main">
            <a:r>
              <a:t>For a large scene, we first use a quick RGB preview and then run global clustering. The RGB image and cluster overlay are reviewed together to confirm that leaves, soil, shadows, and bright regions are separated appropriately.</a:t>
            </a:r>
          </a:p>
          <a:p xmlns:a="http://schemas.openxmlformats.org/drawingml/2006/main">
            <a:r>
              <a:t>If the result is satisfactory, spectra are extracted for the selected ROIs. If only one region performs poorly, we recluster that ROI with its own settings instead of repeating the analysis for the entire scene.</a:t>
            </a:r>
          </a:p>
          <a:p xmlns:a="http://schemas.openxmlformats.org/drawingml/2006/main">
            <a:r>
              <a:t>The final output preserves both raw and calibrated spectra and produces per-file reports as well as a daily summary. This keeps the analysis traceable while reducing unnecessary computation.</a:t>
            </a:r>
          </a:p>
          <a:p xmlns:a="http://schemas.openxmlformats.org/drawingml/2006/main">
            <a:r>
              <a:t>[Sources]</a:t>
            </a:r>
          </a:p>
          <a:p xmlns:a="http://schemas.openxmlformats.org/drawingml/2006/main">
            <a:r>
              <a:t>- Internal project workflow based on user-provided requirements.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807d46db354b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249f2aea534bbf" /><Relationship Type="http://schemas.openxmlformats.org/officeDocument/2006/relationships/slideLayout" Target="/ppt/slideLayouts/slideLayout1.xml" Id="Rada322d9090342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a322d9090342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b4deb46276423e" /><Relationship Type="http://schemas.openxmlformats.org/officeDocument/2006/relationships/notesSlide" Target="/ppt/notesSlides/notesSlide1.xml" Id="Rf1f2ffb0aaaa41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78cdced90864a77" /><Relationship Type="http://schemas.openxmlformats.org/officeDocument/2006/relationships/notesSlide" Target="/ppt/notesSlides/notesSlide2.xml" Id="Rf06d473c0a6a41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f8153b5ecc4ada" /><Relationship Type="http://schemas.openxmlformats.org/officeDocument/2006/relationships/notesSlide" Target="/ppt/notesSlides/notesSlide3.xml" Id="R41d52556e38146b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E946E4-DA62-446C-BEC4-9825799E3A4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 name="cover-eyebrow">
            <a:extLst xmlns:a="http://schemas.openxmlformats.org/drawingml/2006/main">
              <a:ext uri="{FF2B5EF4-FFF2-40B4-BE49-F238E27FC236}">
                <a16:creationId xmlns:a16="http://schemas.microsoft.com/office/drawing/2014/main" id="{807CA89A-B74F-474D-9D18-B6D2414DCB41}"/>
              </a:ext>
            </a:extLst>
          </p:cNvPr>
          <p:cNvSpPr>
            <a:spLocks xmlns:a="http://schemas.openxmlformats.org/drawingml/2006/main" noGrp="1"/>
          </p:cNvSpPr>
          <p:nvPr/>
        </p:nvSpPr>
        <p:spPr>
          <a:xfrm xmlns:a="http://schemas.openxmlformats.org/drawingml/2006/main">
            <a:off x="666750" y="53340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D8DFF"/>
                </a:solidFill>
                <a:latin typeface="Malgun Gothic"/>
                <a:ea typeface="Malgun Gothic"/>
                <a:cs typeface="Malgun Gothic"/>
              </a:defRPr>
            </a:pPr>
            <a:r>
              <a:rPr sz="1650" b="1">
                <a:solidFill>
                  <a:srgbClr val="3D8DFF"/>
                </a:solidFill>
                <a:latin typeface="Malgun Gothic"/>
                <a:ea typeface="Malgun Gothic"/>
                <a:cs typeface="Malgun Gothic"/>
              </a:rPr>
              <a:t>UIUC RIPE · HYPERSPECTRAL ANALYSIS</a:t>
            </a:r>
          </a:p>
        </p:txBody>
      </p:sp>
      <p:sp>
        <p:nvSpPr>
          <p:cNvPr id="3" name="cover-title">
            <a:extLst xmlns:a="http://schemas.openxmlformats.org/drawingml/2006/main">
              <a:ext uri="{FF2B5EF4-FFF2-40B4-BE49-F238E27FC236}">
                <a16:creationId xmlns:a16="http://schemas.microsoft.com/office/drawing/2014/main" id="{98040738-4057-42C6-8D03-DFCA6F0903AC}"/>
              </a:ext>
            </a:extLst>
          </p:cNvPr>
          <p:cNvSpPr>
            <a:spLocks xmlns:a="http://schemas.openxmlformats.org/drawingml/2006/main" noGrp="1"/>
          </p:cNvSpPr>
          <p:nvPr/>
        </p:nvSpPr>
        <p:spPr>
          <a:xfrm xmlns:a="http://schemas.openxmlformats.org/drawingml/2006/main">
            <a:off x="666750" y="1695450"/>
            <a:ext cx="9906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5400" b="1">
                <a:solidFill>
                  <a:srgbClr val="111111"/>
                </a:solidFill>
                <a:latin typeface="Malgun Gothic"/>
                <a:ea typeface="Malgun Gothic"/>
                <a:cs typeface="Malgun Gothic"/>
              </a:defRPr>
            </a:pPr>
            <a:r>
              <a:rPr sz="5400" b="1">
                <a:solidFill>
                  <a:srgbClr val="111111"/>
                </a:solidFill>
                <a:latin typeface="Malgun Gothic"/>
                <a:ea typeface="Malgun Gothic"/>
                <a:cs typeface="Malgun Gothic"/>
              </a:rPr>
              <a:t>From field hyperspectral data</a:t>
            </a:r>
          </a:p>
          <a:p xmlns:a="http://schemas.openxmlformats.org/drawingml/2006/main">
            <a:pPr algn="l">
              <a:buNone/>
              <a:defRPr sz="5400" b="1">
                <a:solidFill>
                  <a:srgbClr val="111111"/>
                </a:solidFill>
                <a:latin typeface="Malgun Gothic"/>
                <a:ea typeface="Malgun Gothic"/>
                <a:cs typeface="Malgun Gothic"/>
              </a:defRPr>
            </a:pPr>
            <a:r>
              <a:rPr sz="5400" b="1">
                <a:solidFill>
                  <a:srgbClr val="111111"/>
                </a:solidFill>
                <a:latin typeface="Malgun Gothic"/>
                <a:ea typeface="Malgun Gothic"/>
                <a:cs typeface="Malgun Gothic"/>
              </a:rPr>
              <a:t>to research-ready results</a:t>
            </a:r>
          </a:p>
        </p:txBody>
      </p:sp>
      <p:sp>
        <p:nvSpPr>
          <p:cNvPr id="4" name="cover-subtitle">
            <a:extLst xmlns:a="http://schemas.openxmlformats.org/drawingml/2006/main">
              <a:ext uri="{FF2B5EF4-FFF2-40B4-BE49-F238E27FC236}">
                <a16:creationId xmlns:a16="http://schemas.microsoft.com/office/drawing/2014/main" id="{D533B78A-4ED9-4579-BDF3-75A076BFC109}"/>
              </a:ext>
            </a:extLst>
          </p:cNvPr>
          <p:cNvSpPr>
            <a:spLocks xmlns:a="http://schemas.openxmlformats.org/drawingml/2006/main" noGrp="1"/>
          </p:cNvSpPr>
          <p:nvPr/>
        </p:nvSpPr>
        <p:spPr>
          <a:xfrm xmlns:a="http://schemas.openxmlformats.org/drawingml/2006/main">
            <a:off x="685800" y="4419600"/>
            <a:ext cx="981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362"/>
          </a:bodyPr>
          <a:lstStyle xmlns:a="http://schemas.openxmlformats.org/drawingml/2006/main"/>
          <a:p xmlns:a="http://schemas.openxmlformats.org/drawingml/2006/main">
            <a:pPr algn="l">
              <a:buNone/>
              <a:defRPr sz="2100" b="0">
                <a:solidFill>
                  <a:srgbClr val="59616D"/>
                </a:solidFill>
                <a:latin typeface="Malgun Gothic"/>
                <a:ea typeface="Malgun Gothic"/>
                <a:cs typeface="Malgun Gothic"/>
              </a:defRPr>
            </a:pPr>
            <a:r>
              <a:rPr sz="2100" b="0">
                <a:solidFill>
                  <a:srgbClr val="59616D"/>
                </a:solidFill>
                <a:latin typeface="Malgun Gothic"/>
                <a:ea typeface="Malgun Gothic"/>
                <a:cs typeface="Malgun Gothic"/>
              </a:rPr>
              <a:t>CERES/BIL → Reflectance calibration → Clustering → ROI spectra → Automated reports</a:t>
            </a:r>
          </a:p>
        </p:txBody>
      </p:sp>
      <p:sp>
        <p:nvSpPr>
          <p:cNvPr id="5" name="">
            <a:extLst xmlns:a="http://schemas.openxmlformats.org/drawingml/2006/main">
              <a:ext uri="{FF2B5EF4-FFF2-40B4-BE49-F238E27FC236}">
                <a16:creationId xmlns:a16="http://schemas.microsoft.com/office/drawing/2014/main" id="{70335FE2-8EF8-48B7-802B-D3EC2E52D99C}"/>
              </a:ext>
            </a:extLst>
          </p:cNvPr>
          <p:cNvSpPr>
            <a:spLocks xmlns:a="http://schemas.openxmlformats.org/drawingml/2006/main" noGrp="1"/>
          </p:cNvSpPr>
          <p:nvPr/>
        </p:nvSpPr>
        <p:spPr>
          <a:xfrm xmlns:a="http://schemas.openxmlformats.org/drawingml/2006/main">
            <a:off x="685800" y="5543550"/>
            <a:ext cx="2381250" cy="7620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
        <p:nvSpPr>
          <p:cNvPr id="6" name="cover-footer">
            <a:extLst xmlns:a="http://schemas.openxmlformats.org/drawingml/2006/main">
              <a:ext uri="{FF2B5EF4-FFF2-40B4-BE49-F238E27FC236}">
                <a16:creationId xmlns:a16="http://schemas.microsoft.com/office/drawing/2014/main" id="{42AE9C73-98B0-4B3A-AEE0-57439BFADDF3}"/>
              </a:ext>
            </a:extLst>
          </p:cNvPr>
          <p:cNvSpPr>
            <a:spLocks xmlns:a="http://schemas.openxmlformats.org/drawingml/2006/main" noGrp="1"/>
          </p:cNvSpPr>
          <p:nvPr/>
        </p:nvSpPr>
        <p:spPr>
          <a:xfrm xmlns:a="http://schemas.openxmlformats.org/drawingml/2006/main">
            <a:off x="685800" y="5810250"/>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59616D"/>
                </a:solidFill>
                <a:latin typeface="Malgun Gothic"/>
                <a:ea typeface="Malgun Gothic"/>
                <a:cs typeface="Malgun Gothic"/>
              </a:defRPr>
            </a:pPr>
            <a:r>
              <a:rPr sz="1650" b="0">
                <a:solidFill>
                  <a:srgbClr val="59616D"/>
                </a:solidFill>
                <a:latin typeface="Malgun Gothic"/>
                <a:ea typeface="Malgun Gothic"/>
                <a:cs typeface="Malgun Gothic"/>
              </a:rPr>
              <a:t>Field-scale hyperspectral analysis workflow</a:t>
            </a:r>
          </a:p>
        </p:txBody>
      </p:sp>
    </p:spTree>
    <p:extLst>
      <p:ext uri="{BB962C8B-B14F-4D97-AF65-F5344CB8AC3E}">
        <p14:creationId xmlns:p14="http://schemas.microsoft.com/office/powerpoint/2010/main" val="11001296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9D923BB-22B0-4899-A749-7C7B38A90DA1}"/>
              </a:ext>
            </a:extLst>
          </p:cNvPr>
          <p:cNvSpPr>
            <a:spLocks xmlns:a="http://schemas.openxmlformats.org/drawingml/2006/main" noGrp="1"/>
          </p:cNvSpPr>
          <p:nvPr/>
        </p:nvSpPr>
        <p:spPr>
          <a:xfrm xmlns:a="http://schemas.openxmlformats.org/drawingml/2006/main">
            <a:off x="476250" y="1200150"/>
            <a:ext cx="112395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 name="simple-title">
            <a:extLst xmlns:a="http://schemas.openxmlformats.org/drawingml/2006/main">
              <a:ext uri="{FF2B5EF4-FFF2-40B4-BE49-F238E27FC236}">
                <a16:creationId xmlns:a16="http://schemas.microsoft.com/office/drawing/2014/main" id="{FD9BC115-1774-4F1D-AB0B-BCC9E9F420AE}"/>
              </a:ext>
            </a:extLst>
          </p:cNvPr>
          <p:cNvSpPr>
            <a:spLocks xmlns:a="http://schemas.openxmlformats.org/drawingml/2006/main" noGrp="1"/>
          </p:cNvSpPr>
          <p:nvPr/>
        </p:nvSpPr>
        <p:spPr>
          <a:xfrm xmlns:a="http://schemas.openxmlformats.org/drawingml/2006/main">
            <a:off x="476250" y="400050"/>
            <a:ext cx="1047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11111"/>
                </a:solidFill>
                <a:latin typeface="Malgun Gothic"/>
                <a:ea typeface="Malgun Gothic"/>
                <a:cs typeface="Malgun Gothic"/>
              </a:defRPr>
            </a:pPr>
            <a:r>
              <a:rPr sz="3600" b="1">
                <a:solidFill>
                  <a:srgbClr val="111111"/>
                </a:solidFill>
                <a:latin typeface="Malgun Gothic"/>
                <a:ea typeface="Malgun Gothic"/>
                <a:cs typeface="Malgun Gothic"/>
              </a:rPr>
              <a:t>Five steps turn field data into research results</a:t>
            </a:r>
          </a:p>
        </p:txBody>
      </p:sp>
      <p:sp>
        <p:nvSpPr>
          <p:cNvPr id="3" name="simple-kicker">
            <a:extLst xmlns:a="http://schemas.openxmlformats.org/drawingml/2006/main">
              <a:ext uri="{FF2B5EF4-FFF2-40B4-BE49-F238E27FC236}">
                <a16:creationId xmlns:a16="http://schemas.microsoft.com/office/drawing/2014/main" id="{594B0863-B893-4607-A464-CC613AEA6468}"/>
              </a:ext>
            </a:extLst>
          </p:cNvPr>
          <p:cNvSpPr>
            <a:spLocks xmlns:a="http://schemas.openxmlformats.org/drawingml/2006/main" noGrp="1"/>
          </p:cNvSpPr>
          <p:nvPr/>
        </p:nvSpPr>
        <p:spPr>
          <a:xfrm xmlns:a="http://schemas.openxmlformats.org/drawingml/2006/main">
            <a:off x="476250" y="13906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59616D"/>
                </a:solidFill>
                <a:latin typeface="Malgun Gothic"/>
                <a:ea typeface="Malgun Gothic"/>
                <a:cs typeface="Malgun Gothic"/>
              </a:defRPr>
            </a:pPr>
            <a:r>
              <a:rPr sz="1650" b="0">
                <a:solidFill>
                  <a:srgbClr val="59616D"/>
                </a:solidFill>
                <a:latin typeface="Malgun Gothic"/>
                <a:ea typeface="Malgun Gothic"/>
                <a:cs typeface="Malgun Gothic"/>
              </a:rPr>
              <a:t>The workflow every user needs to remember</a:t>
            </a:r>
          </a:p>
        </p:txBody>
      </p:sp>
      <p:sp>
        <p:nvSpPr>
          <p:cNvPr id="4" name="">
            <a:extLst xmlns:a="http://schemas.openxmlformats.org/drawingml/2006/main">
              <a:ext uri="{FF2B5EF4-FFF2-40B4-BE49-F238E27FC236}">
                <a16:creationId xmlns:a16="http://schemas.microsoft.com/office/drawing/2014/main" id="{CF25F2F6-A2C5-4F5E-BD69-39CD92AA2D78}"/>
              </a:ext>
            </a:extLst>
          </p:cNvPr>
          <p:cNvSpPr>
            <a:spLocks xmlns:a="http://schemas.openxmlformats.org/drawingml/2006/main" noGrp="1"/>
          </p:cNvSpPr>
          <p:nvPr/>
        </p:nvSpPr>
        <p:spPr>
          <a:xfrm xmlns:a="http://schemas.openxmlformats.org/drawingml/2006/main">
            <a:off x="2362200" y="3286125"/>
            <a:ext cx="3238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5" name="">
            <a:extLst xmlns:a="http://schemas.openxmlformats.org/drawingml/2006/main">
              <a:ext uri="{FF2B5EF4-FFF2-40B4-BE49-F238E27FC236}">
                <a16:creationId xmlns:a16="http://schemas.microsoft.com/office/drawing/2014/main" id="{6B3C7F1E-A7C6-4523-AC7D-1CA1512ED4B8}"/>
              </a:ext>
            </a:extLst>
          </p:cNvPr>
          <p:cNvSpPr>
            <a:spLocks xmlns:a="http://schemas.openxmlformats.org/drawingml/2006/main" noGrp="1"/>
          </p:cNvSpPr>
          <p:nvPr/>
        </p:nvSpPr>
        <p:spPr>
          <a:xfrm xmlns:a="http://schemas.openxmlformats.org/drawingml/2006/main">
            <a:off x="4686300" y="3286125"/>
            <a:ext cx="3238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6" name="">
            <a:extLst xmlns:a="http://schemas.openxmlformats.org/drawingml/2006/main">
              <a:ext uri="{FF2B5EF4-FFF2-40B4-BE49-F238E27FC236}">
                <a16:creationId xmlns:a16="http://schemas.microsoft.com/office/drawing/2014/main" id="{4687178D-B145-48F9-9F1A-5C8D6C7F75EE}"/>
              </a:ext>
            </a:extLst>
          </p:cNvPr>
          <p:cNvSpPr>
            <a:spLocks xmlns:a="http://schemas.openxmlformats.org/drawingml/2006/main" noGrp="1"/>
          </p:cNvSpPr>
          <p:nvPr/>
        </p:nvSpPr>
        <p:spPr>
          <a:xfrm xmlns:a="http://schemas.openxmlformats.org/drawingml/2006/main">
            <a:off x="7010400" y="3286125"/>
            <a:ext cx="3238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CE869D00-C7D4-40D2-831F-EF108A556C0E}"/>
              </a:ext>
            </a:extLst>
          </p:cNvPr>
          <p:cNvSpPr>
            <a:spLocks xmlns:a="http://schemas.openxmlformats.org/drawingml/2006/main" noGrp="1"/>
          </p:cNvSpPr>
          <p:nvPr/>
        </p:nvSpPr>
        <p:spPr>
          <a:xfrm xmlns:a="http://schemas.openxmlformats.org/drawingml/2006/main">
            <a:off x="9334500" y="3286125"/>
            <a:ext cx="3238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8" name="step-1-불러오기">
            <a:extLst xmlns:a="http://schemas.openxmlformats.org/drawingml/2006/main">
              <a:ext uri="{FF2B5EF4-FFF2-40B4-BE49-F238E27FC236}">
                <a16:creationId xmlns:a16="http://schemas.microsoft.com/office/drawing/2014/main" id="{83F53C90-BA8E-41D1-849A-8597E3AAC51F}"/>
              </a:ext>
            </a:extLst>
          </p:cNvPr>
          <p:cNvSpPr>
            <a:spLocks xmlns:a="http://schemas.openxmlformats.org/drawingml/2006/main" noGrp="1"/>
          </p:cNvSpPr>
          <p:nvPr/>
        </p:nvSpPr>
        <p:spPr>
          <a:xfrm xmlns:a="http://schemas.openxmlformats.org/drawingml/2006/main">
            <a:off x="476250" y="1952625"/>
            <a:ext cx="1885950" cy="3143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9" name="step-1-number">
            <a:extLst xmlns:a="http://schemas.openxmlformats.org/drawingml/2006/main">
              <a:ext uri="{FF2B5EF4-FFF2-40B4-BE49-F238E27FC236}">
                <a16:creationId xmlns:a16="http://schemas.microsoft.com/office/drawing/2014/main" id="{B0326CAE-9F72-4380-8234-C1EB51A7F0E6}"/>
              </a:ext>
            </a:extLst>
          </p:cNvPr>
          <p:cNvSpPr>
            <a:spLocks xmlns:a="http://schemas.openxmlformats.org/drawingml/2006/main" noGrp="1"/>
          </p:cNvSpPr>
          <p:nvPr/>
        </p:nvSpPr>
        <p:spPr>
          <a:xfrm xmlns:a="http://schemas.openxmlformats.org/drawingml/2006/main">
            <a:off x="6477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1</a:t>
            </a:r>
          </a:p>
        </p:txBody>
      </p:sp>
      <p:sp>
        <p:nvSpPr>
          <p:cNvPr id="10" name="step-1-title">
            <a:extLst xmlns:a="http://schemas.openxmlformats.org/drawingml/2006/main">
              <a:ext uri="{FF2B5EF4-FFF2-40B4-BE49-F238E27FC236}">
                <a16:creationId xmlns:a16="http://schemas.microsoft.com/office/drawing/2014/main" id="{BF932A94-EE8D-4108-9B67-8A303FD84271}"/>
              </a:ext>
            </a:extLst>
          </p:cNvPr>
          <p:cNvSpPr>
            <a:spLocks xmlns:a="http://schemas.openxmlformats.org/drawingml/2006/main" noGrp="1"/>
          </p:cNvSpPr>
          <p:nvPr/>
        </p:nvSpPr>
        <p:spPr>
          <a:xfrm xmlns:a="http://schemas.openxmlformats.org/drawingml/2006/main">
            <a:off x="6477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Load data</a:t>
            </a:r>
          </a:p>
        </p:txBody>
      </p:sp>
      <p:sp>
        <p:nvSpPr>
          <p:cNvPr id="11" name="step-1-detail">
            <a:extLst xmlns:a="http://schemas.openxmlformats.org/drawingml/2006/main">
              <a:ext uri="{FF2B5EF4-FFF2-40B4-BE49-F238E27FC236}">
                <a16:creationId xmlns:a16="http://schemas.microsoft.com/office/drawing/2014/main" id="{22711278-0C89-4D62-8FB9-84DC97BDC01C}"/>
              </a:ext>
            </a:extLst>
          </p:cNvPr>
          <p:cNvSpPr>
            <a:spLocks xmlns:a="http://schemas.openxmlformats.org/drawingml/2006/main" noGrp="1"/>
          </p:cNvSpPr>
          <p:nvPr/>
        </p:nvSpPr>
        <p:spPr>
          <a:xfrm xmlns:a="http://schemas.openxmlformats.org/drawingml/2006/main">
            <a:off x="6477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Select a CERES entry</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or open BIL/HDR</a:t>
            </a:r>
          </a:p>
        </p:txBody>
      </p:sp>
      <p:sp>
        <p:nvSpPr>
          <p:cNvPr id="12" name="step-2-반사율 보정">
            <a:extLst xmlns:a="http://schemas.openxmlformats.org/drawingml/2006/main">
              <a:ext uri="{FF2B5EF4-FFF2-40B4-BE49-F238E27FC236}">
                <a16:creationId xmlns:a16="http://schemas.microsoft.com/office/drawing/2014/main" id="{66F463DE-3CEF-4F6D-BBE6-9022E7604A7E}"/>
              </a:ext>
            </a:extLst>
          </p:cNvPr>
          <p:cNvSpPr>
            <a:spLocks xmlns:a="http://schemas.openxmlformats.org/drawingml/2006/main" noGrp="1"/>
          </p:cNvSpPr>
          <p:nvPr/>
        </p:nvSpPr>
        <p:spPr>
          <a:xfrm xmlns:a="http://schemas.openxmlformats.org/drawingml/2006/main">
            <a:off x="2800350" y="1952625"/>
            <a:ext cx="1885950" cy="3143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3" name="step-2-number">
            <a:extLst xmlns:a="http://schemas.openxmlformats.org/drawingml/2006/main">
              <a:ext uri="{FF2B5EF4-FFF2-40B4-BE49-F238E27FC236}">
                <a16:creationId xmlns:a16="http://schemas.microsoft.com/office/drawing/2014/main" id="{71B34E98-BB4E-4296-859F-AB965BBDD23E}"/>
              </a:ext>
            </a:extLst>
          </p:cNvPr>
          <p:cNvSpPr>
            <a:spLocks xmlns:a="http://schemas.openxmlformats.org/drawingml/2006/main" noGrp="1"/>
          </p:cNvSpPr>
          <p:nvPr/>
        </p:nvSpPr>
        <p:spPr>
          <a:xfrm xmlns:a="http://schemas.openxmlformats.org/drawingml/2006/main">
            <a:off x="29718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2</a:t>
            </a:r>
          </a:p>
        </p:txBody>
      </p:sp>
      <p:sp>
        <p:nvSpPr>
          <p:cNvPr id="14" name="step-2-title">
            <a:extLst xmlns:a="http://schemas.openxmlformats.org/drawingml/2006/main">
              <a:ext uri="{FF2B5EF4-FFF2-40B4-BE49-F238E27FC236}">
                <a16:creationId xmlns:a16="http://schemas.microsoft.com/office/drawing/2014/main" id="{AC67280E-856C-4A39-B8D7-C96641D5A026}"/>
              </a:ext>
            </a:extLst>
          </p:cNvPr>
          <p:cNvSpPr>
            <a:spLocks xmlns:a="http://schemas.openxmlformats.org/drawingml/2006/main" noGrp="1"/>
          </p:cNvSpPr>
          <p:nvPr/>
        </p:nvSpPr>
        <p:spPr>
          <a:xfrm xmlns:a="http://schemas.openxmlformats.org/drawingml/2006/main">
            <a:off x="29718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Calibrate</a:t>
            </a:r>
          </a:p>
        </p:txBody>
      </p:sp>
      <p:sp>
        <p:nvSpPr>
          <p:cNvPr id="15" name="step-2-detail">
            <a:extLst xmlns:a="http://schemas.openxmlformats.org/drawingml/2006/main">
              <a:ext uri="{FF2B5EF4-FFF2-40B4-BE49-F238E27FC236}">
                <a16:creationId xmlns:a16="http://schemas.microsoft.com/office/drawing/2014/main" id="{D602A726-92AE-4A9A-A545-B66F0776F3B7}"/>
              </a:ext>
            </a:extLst>
          </p:cNvPr>
          <p:cNvSpPr>
            <a:spLocks xmlns:a="http://schemas.openxmlformats.org/drawingml/2006/main" noGrp="1"/>
          </p:cNvSpPr>
          <p:nvPr/>
        </p:nvSpPr>
        <p:spPr>
          <a:xfrm xmlns:a="http://schemas.openxmlformats.org/drawingml/2006/main">
            <a:off x="29718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White panel +</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Sensor dark</a:t>
            </a:r>
          </a:p>
        </p:txBody>
      </p:sp>
      <p:sp>
        <p:nvSpPr>
          <p:cNvPr id="16" name="step-3-클러스터링">
            <a:extLst xmlns:a="http://schemas.openxmlformats.org/drawingml/2006/main">
              <a:ext uri="{FF2B5EF4-FFF2-40B4-BE49-F238E27FC236}">
                <a16:creationId xmlns:a16="http://schemas.microsoft.com/office/drawing/2014/main" id="{7ABA1C21-0E0F-45E7-A75D-E80B8265FA86}"/>
              </a:ext>
            </a:extLst>
          </p:cNvPr>
          <p:cNvSpPr>
            <a:spLocks xmlns:a="http://schemas.openxmlformats.org/drawingml/2006/main" noGrp="1"/>
          </p:cNvSpPr>
          <p:nvPr/>
        </p:nvSpPr>
        <p:spPr>
          <a:xfrm xmlns:a="http://schemas.openxmlformats.org/drawingml/2006/main">
            <a:off x="5124450" y="1952625"/>
            <a:ext cx="1885950" cy="3143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7" name="step-3-number">
            <a:extLst xmlns:a="http://schemas.openxmlformats.org/drawingml/2006/main">
              <a:ext uri="{FF2B5EF4-FFF2-40B4-BE49-F238E27FC236}">
                <a16:creationId xmlns:a16="http://schemas.microsoft.com/office/drawing/2014/main" id="{9369B5AA-B5F1-4C8A-BEEF-5B5B3D9F0835}"/>
              </a:ext>
            </a:extLst>
          </p:cNvPr>
          <p:cNvSpPr>
            <a:spLocks xmlns:a="http://schemas.openxmlformats.org/drawingml/2006/main" noGrp="1"/>
          </p:cNvSpPr>
          <p:nvPr/>
        </p:nvSpPr>
        <p:spPr>
          <a:xfrm xmlns:a="http://schemas.openxmlformats.org/drawingml/2006/main">
            <a:off x="52959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3</a:t>
            </a:r>
          </a:p>
        </p:txBody>
      </p:sp>
      <p:sp>
        <p:nvSpPr>
          <p:cNvPr id="18" name="step-3-title">
            <a:extLst xmlns:a="http://schemas.openxmlformats.org/drawingml/2006/main">
              <a:ext uri="{FF2B5EF4-FFF2-40B4-BE49-F238E27FC236}">
                <a16:creationId xmlns:a16="http://schemas.microsoft.com/office/drawing/2014/main" id="{91DEB2AB-9914-4EFB-A292-2517E26A5E69}"/>
              </a:ext>
            </a:extLst>
          </p:cNvPr>
          <p:cNvSpPr>
            <a:spLocks xmlns:a="http://schemas.openxmlformats.org/drawingml/2006/main" noGrp="1"/>
          </p:cNvSpPr>
          <p:nvPr/>
        </p:nvSpPr>
        <p:spPr>
          <a:xfrm xmlns:a="http://schemas.openxmlformats.org/drawingml/2006/main">
            <a:off x="52959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Cluster</a:t>
            </a:r>
          </a:p>
        </p:txBody>
      </p:sp>
      <p:sp>
        <p:nvSpPr>
          <p:cNvPr id="19" name="step-3-detail">
            <a:extLst xmlns:a="http://schemas.openxmlformats.org/drawingml/2006/main">
              <a:ext uri="{FF2B5EF4-FFF2-40B4-BE49-F238E27FC236}">
                <a16:creationId xmlns:a16="http://schemas.microsoft.com/office/drawing/2014/main" id="{B4F6F1FF-3B86-44E7-A12F-CAEECFAE8954}"/>
              </a:ext>
            </a:extLst>
          </p:cNvPr>
          <p:cNvSpPr>
            <a:spLocks xmlns:a="http://schemas.openxmlformats.org/drawingml/2006/main" noGrp="1"/>
          </p:cNvSpPr>
          <p:nvPr/>
        </p:nvSpPr>
        <p:spPr>
          <a:xfrm xmlns:a="http://schemas.openxmlformats.org/drawingml/2006/main">
            <a:off x="52959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Leaves · soil · shadow</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Whole-image separation</a:t>
            </a:r>
          </a:p>
        </p:txBody>
      </p:sp>
      <p:sp>
        <p:nvSpPr>
          <p:cNvPr id="20" name="step-4-확인과 ROI">
            <a:extLst xmlns:a="http://schemas.openxmlformats.org/drawingml/2006/main">
              <a:ext uri="{FF2B5EF4-FFF2-40B4-BE49-F238E27FC236}">
                <a16:creationId xmlns:a16="http://schemas.microsoft.com/office/drawing/2014/main" id="{7E2BCA6C-B3AF-4C8F-80CE-DC391FD3B19D}"/>
              </a:ext>
            </a:extLst>
          </p:cNvPr>
          <p:cNvSpPr>
            <a:spLocks xmlns:a="http://schemas.openxmlformats.org/drawingml/2006/main" noGrp="1"/>
          </p:cNvSpPr>
          <p:nvPr/>
        </p:nvSpPr>
        <p:spPr>
          <a:xfrm xmlns:a="http://schemas.openxmlformats.org/drawingml/2006/main">
            <a:off x="7448550" y="1952625"/>
            <a:ext cx="1885950" cy="3143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1" name="step-4-number">
            <a:extLst xmlns:a="http://schemas.openxmlformats.org/drawingml/2006/main">
              <a:ext uri="{FF2B5EF4-FFF2-40B4-BE49-F238E27FC236}">
                <a16:creationId xmlns:a16="http://schemas.microsoft.com/office/drawing/2014/main" id="{221A6C94-F05C-442C-A5BC-00CD36B42635}"/>
              </a:ext>
            </a:extLst>
          </p:cNvPr>
          <p:cNvSpPr>
            <a:spLocks xmlns:a="http://schemas.openxmlformats.org/drawingml/2006/main" noGrp="1"/>
          </p:cNvSpPr>
          <p:nvPr/>
        </p:nvSpPr>
        <p:spPr>
          <a:xfrm xmlns:a="http://schemas.openxmlformats.org/drawingml/2006/main">
            <a:off x="76200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4</a:t>
            </a:r>
          </a:p>
        </p:txBody>
      </p:sp>
      <p:sp>
        <p:nvSpPr>
          <p:cNvPr id="22" name="step-4-title">
            <a:extLst xmlns:a="http://schemas.openxmlformats.org/drawingml/2006/main">
              <a:ext uri="{FF2B5EF4-FFF2-40B4-BE49-F238E27FC236}">
                <a16:creationId xmlns:a16="http://schemas.microsoft.com/office/drawing/2014/main" id="{73CF0BF6-421A-49C1-ABCB-39079181E025}"/>
              </a:ext>
            </a:extLst>
          </p:cNvPr>
          <p:cNvSpPr>
            <a:spLocks xmlns:a="http://schemas.openxmlformats.org/drawingml/2006/main" noGrp="1"/>
          </p:cNvSpPr>
          <p:nvPr/>
        </p:nvSpPr>
        <p:spPr>
          <a:xfrm xmlns:a="http://schemas.openxmlformats.org/drawingml/2006/main">
            <a:off x="76200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982"/>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Inspect ROI</a:t>
            </a:r>
          </a:p>
        </p:txBody>
      </p:sp>
      <p:sp>
        <p:nvSpPr>
          <p:cNvPr id="23" name="step-4-detail">
            <a:extLst xmlns:a="http://schemas.openxmlformats.org/drawingml/2006/main">
              <a:ext uri="{FF2B5EF4-FFF2-40B4-BE49-F238E27FC236}">
                <a16:creationId xmlns:a16="http://schemas.microsoft.com/office/drawing/2014/main" id="{DA9491F2-3443-4228-BA8E-C76142147EEE}"/>
              </a:ext>
            </a:extLst>
          </p:cNvPr>
          <p:cNvSpPr>
            <a:spLocks xmlns:a="http://schemas.openxmlformats.org/drawingml/2006/main" noGrp="1"/>
          </p:cNvSpPr>
          <p:nvPr/>
        </p:nvSpPr>
        <p:spPr>
          <a:xfrm xmlns:a="http://schemas.openxmlformats.org/drawingml/2006/main">
            <a:off x="76200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Review color overlay</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and define regions</a:t>
            </a:r>
          </a:p>
        </p:txBody>
      </p:sp>
      <p:sp>
        <p:nvSpPr>
          <p:cNvPr id="24" name="step-5-저장과 공유">
            <a:extLst xmlns:a="http://schemas.openxmlformats.org/drawingml/2006/main">
              <a:ext uri="{FF2B5EF4-FFF2-40B4-BE49-F238E27FC236}">
                <a16:creationId xmlns:a16="http://schemas.microsoft.com/office/drawing/2014/main" id="{97B4692E-1121-45F4-AD15-E367C95EC5E0}"/>
              </a:ext>
            </a:extLst>
          </p:cNvPr>
          <p:cNvSpPr>
            <a:spLocks xmlns:a="http://schemas.openxmlformats.org/drawingml/2006/main" noGrp="1"/>
          </p:cNvSpPr>
          <p:nvPr/>
        </p:nvSpPr>
        <p:spPr>
          <a:xfrm xmlns:a="http://schemas.openxmlformats.org/drawingml/2006/main">
            <a:off x="9772650" y="1952625"/>
            <a:ext cx="1885950" cy="3143250"/>
          </a:xfrm>
          <a:prstGeom xmlns:a="http://schemas.openxmlformats.org/drawingml/2006/main" prst="rect">
            <a:avLst/>
          </a:prstGeom>
          <a:solidFill xmlns:a="http://schemas.openxmlformats.org/drawingml/2006/main">
            <a:srgbClr val="DDF3FC"/>
          </a:solidFill>
          <a:ln xmlns:a="http://schemas.openxmlformats.org/drawingml/2006/main" w="9525">
            <a:solidFill>
              <a:srgbClr val="B8BCC4"/>
            </a:solidFill>
            <a:prstDash val="solid"/>
          </a:ln>
        </p:spPr>
      </p:sp>
      <p:sp>
        <p:nvSpPr>
          <p:cNvPr id="25" name="step-5-number">
            <a:extLst xmlns:a="http://schemas.openxmlformats.org/drawingml/2006/main">
              <a:ext uri="{FF2B5EF4-FFF2-40B4-BE49-F238E27FC236}">
                <a16:creationId xmlns:a16="http://schemas.microsoft.com/office/drawing/2014/main" id="{08C5724E-3A2F-4359-9D46-8A8D00B7A8AA}"/>
              </a:ext>
            </a:extLst>
          </p:cNvPr>
          <p:cNvSpPr>
            <a:spLocks xmlns:a="http://schemas.openxmlformats.org/drawingml/2006/main" noGrp="1"/>
          </p:cNvSpPr>
          <p:nvPr/>
        </p:nvSpPr>
        <p:spPr>
          <a:xfrm xmlns:a="http://schemas.openxmlformats.org/drawingml/2006/main">
            <a:off x="9944100" y="2143125"/>
            <a:ext cx="400050" cy="4000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5</a:t>
            </a:r>
          </a:p>
        </p:txBody>
      </p:sp>
      <p:sp>
        <p:nvSpPr>
          <p:cNvPr id="26" name="step-5-title">
            <a:extLst xmlns:a="http://schemas.openxmlformats.org/drawingml/2006/main">
              <a:ext uri="{FF2B5EF4-FFF2-40B4-BE49-F238E27FC236}">
                <a16:creationId xmlns:a16="http://schemas.microsoft.com/office/drawing/2014/main" id="{E1F3A23C-76D9-4FA6-9D47-8C1FE9D36FFA}"/>
              </a:ext>
            </a:extLst>
          </p:cNvPr>
          <p:cNvSpPr>
            <a:spLocks xmlns:a="http://schemas.openxmlformats.org/drawingml/2006/main" noGrp="1"/>
          </p:cNvSpPr>
          <p:nvPr/>
        </p:nvSpPr>
        <p:spPr>
          <a:xfrm xmlns:a="http://schemas.openxmlformats.org/drawingml/2006/main">
            <a:off x="9944100" y="273367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Export</a:t>
            </a:r>
          </a:p>
        </p:txBody>
      </p:sp>
      <p:sp>
        <p:nvSpPr>
          <p:cNvPr id="27" name="step-5-detail">
            <a:extLst xmlns:a="http://schemas.openxmlformats.org/drawingml/2006/main">
              <a:ext uri="{FF2B5EF4-FFF2-40B4-BE49-F238E27FC236}">
                <a16:creationId xmlns:a16="http://schemas.microsoft.com/office/drawing/2014/main" id="{41FE4C33-747E-4EBA-BA7B-F35D751DC53D}"/>
              </a:ext>
            </a:extLst>
          </p:cNvPr>
          <p:cNvSpPr>
            <a:spLocks xmlns:a="http://schemas.openxmlformats.org/drawingml/2006/main" noGrp="1"/>
          </p:cNvSpPr>
          <p:nvPr/>
        </p:nvSpPr>
        <p:spPr>
          <a:xfrm xmlns:a="http://schemas.openxmlformats.org/drawingml/2006/main">
            <a:off x="9944100" y="3381375"/>
            <a:ext cx="1543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HTML · Excel · CSV</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images · daily summary</a:t>
            </a:r>
          </a:p>
        </p:txBody>
      </p:sp>
      <p:sp>
        <p:nvSpPr>
          <p:cNvPr id="28" name="">
            <a:extLst xmlns:a="http://schemas.openxmlformats.org/drawingml/2006/main">
              <a:ext uri="{FF2B5EF4-FFF2-40B4-BE49-F238E27FC236}">
                <a16:creationId xmlns:a16="http://schemas.microsoft.com/office/drawing/2014/main" id="{F9E09A83-A05C-410F-BBB2-5D3E66A05CF4}"/>
              </a:ext>
            </a:extLst>
          </p:cNvPr>
          <p:cNvSpPr>
            <a:spLocks xmlns:a="http://schemas.openxmlformats.org/drawingml/2006/main" noGrp="1"/>
          </p:cNvSpPr>
          <p:nvPr/>
        </p:nvSpPr>
        <p:spPr>
          <a:xfrm xmlns:a="http://schemas.openxmlformats.org/drawingml/2006/main">
            <a:off x="476250" y="5476875"/>
            <a:ext cx="11239500" cy="6858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29" name="simple-note-left">
            <a:extLst xmlns:a="http://schemas.openxmlformats.org/drawingml/2006/main">
              <a:ext uri="{FF2B5EF4-FFF2-40B4-BE49-F238E27FC236}">
                <a16:creationId xmlns:a16="http://schemas.microsoft.com/office/drawing/2014/main" id="{8EC85B66-57E6-424B-A19E-5CB8EFBCCD6D}"/>
              </a:ext>
            </a:extLst>
          </p:cNvPr>
          <p:cNvSpPr>
            <a:spLocks xmlns:a="http://schemas.openxmlformats.org/drawingml/2006/main" noGrp="1"/>
          </p:cNvSpPr>
          <p:nvPr/>
        </p:nvSpPr>
        <p:spPr>
          <a:xfrm xmlns:a="http://schemas.openxmlformats.org/drawingml/2006/main">
            <a:off x="704850" y="56578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111111"/>
                </a:solidFill>
                <a:latin typeface="Malgun Gothic"/>
                <a:ea typeface="Malgun Gothic"/>
                <a:cs typeface="Malgun Gothic"/>
              </a:defRPr>
            </a:pPr>
            <a:r>
              <a:rPr sz="1650" b="1">
                <a:solidFill>
                  <a:srgbClr val="111111"/>
                </a:solidFill>
                <a:latin typeface="Malgun Gothic"/>
                <a:ea typeface="Malgun Gothic"/>
                <a:cs typeface="Malgun Gothic"/>
              </a:rPr>
              <a:t>Default clustering input: normalized Raw DN</a:t>
            </a:r>
          </a:p>
        </p:txBody>
      </p:sp>
      <p:sp>
        <p:nvSpPr>
          <p:cNvPr id="30" name="simple-note-right">
            <a:extLst xmlns:a="http://schemas.openxmlformats.org/drawingml/2006/main">
              <a:ext uri="{FF2B5EF4-FFF2-40B4-BE49-F238E27FC236}">
                <a16:creationId xmlns:a16="http://schemas.microsoft.com/office/drawing/2014/main" id="{B278C2C1-D973-42B8-BB9C-49863F650877}"/>
              </a:ext>
            </a:extLst>
          </p:cNvPr>
          <p:cNvSpPr>
            <a:spLocks xmlns:a="http://schemas.openxmlformats.org/drawingml/2006/main" noGrp="1"/>
          </p:cNvSpPr>
          <p:nvPr/>
        </p:nvSpPr>
        <p:spPr>
          <a:xfrm xmlns:a="http://schemas.openxmlformats.org/drawingml/2006/main">
            <a:off x="5886450" y="5657850"/>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448"/>
          </a:bodyPr>
          <a:lstStyle xmlns:a="http://schemas.openxmlformats.org/drawingml/2006/main"/>
          <a:p xmlns:a="http://schemas.openxmlformats.org/drawingml/2006/main">
            <a:pPr algn="l">
              <a:buNone/>
              <a:defRPr sz="1650" b="1">
                <a:solidFill>
                  <a:srgbClr val="3D8DFF"/>
                </a:solidFill>
                <a:latin typeface="Malgun Gothic"/>
                <a:ea typeface="Malgun Gothic"/>
                <a:cs typeface="Malgun Gothic"/>
              </a:defRPr>
            </a:pPr>
            <a:r>
              <a:rPr sz="1650" b="1">
                <a:solidFill>
                  <a:srgbClr val="3D8DFF"/>
                </a:solidFill>
                <a:latin typeface="Malgun Gothic"/>
                <a:ea typeface="Malgun Gothic"/>
                <a:cs typeface="Malgun Gothic"/>
              </a:rPr>
              <a:t>Final output includes QC-approved calibrated reflectance</a:t>
            </a:r>
          </a:p>
        </p:txBody>
      </p:sp>
      <p:sp>
        <p:nvSpPr>
          <p:cNvPr id="31" name="slide-2-number">
            <a:extLst xmlns:a="http://schemas.openxmlformats.org/drawingml/2006/main">
              <a:ext uri="{FF2B5EF4-FFF2-40B4-BE49-F238E27FC236}">
                <a16:creationId xmlns:a16="http://schemas.microsoft.com/office/drawing/2014/main" id="{A1C488C9-1D7C-42C1-89EB-6549D32B2EAC}"/>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200" b="0">
                <a:solidFill>
                  <a:srgbClr val="59616D"/>
                </a:solidFill>
                <a:latin typeface="Malgun Gothic"/>
                <a:ea typeface="Malgun Gothic"/>
                <a:cs typeface="Malgun Gothic"/>
              </a:defRPr>
            </a:pPr>
            <a:r>
              <a:rPr sz="1200" b="0">
                <a:solidFill>
                  <a:srgbClr val="59616D"/>
                </a:solidFill>
                <a:latin typeface="Malgun Gothic"/>
                <a:ea typeface="Malgun Gothic"/>
                <a:cs typeface="Malgun Gothic"/>
              </a:rPr>
              <a:t>02</a:t>
            </a:r>
          </a:p>
        </p:txBody>
      </p:sp>
    </p:spTree>
    <p:extLst>
      <p:ext uri="{BB962C8B-B14F-4D97-AF65-F5344CB8AC3E}">
        <p14:creationId xmlns:p14="http://schemas.microsoft.com/office/powerpoint/2010/main" val="14199498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A717FCA5-019E-4931-8E58-342F16A16A48}"/>
              </a:ext>
            </a:extLst>
          </p:cNvPr>
          <p:cNvSpPr>
            <a:spLocks xmlns:a="http://schemas.openxmlformats.org/drawingml/2006/main" noGrp="1"/>
          </p:cNvSpPr>
          <p:nvPr/>
        </p:nvSpPr>
        <p:spPr>
          <a:xfrm xmlns:a="http://schemas.openxmlformats.org/drawingml/2006/main">
            <a:off x="476250" y="1200150"/>
            <a:ext cx="112395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 name="detail-title">
            <a:extLst xmlns:a="http://schemas.openxmlformats.org/drawingml/2006/main">
              <a:ext uri="{FF2B5EF4-FFF2-40B4-BE49-F238E27FC236}">
                <a16:creationId xmlns:a16="http://schemas.microsoft.com/office/drawing/2014/main" id="{0190F782-A8C1-4A72-93FC-076A5BD67756}"/>
              </a:ext>
            </a:extLst>
          </p:cNvPr>
          <p:cNvSpPr>
            <a:spLocks xmlns:a="http://schemas.openxmlformats.org/drawingml/2006/main" noGrp="1"/>
          </p:cNvSpPr>
          <p:nvPr/>
        </p:nvSpPr>
        <p:spPr>
          <a:xfrm xmlns:a="http://schemas.openxmlformats.org/drawingml/2006/main">
            <a:off x="476250" y="40005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434"/>
          </a:bodyPr>
          <a:lstStyle xmlns:a="http://schemas.openxmlformats.org/drawingml/2006/main"/>
          <a:p xmlns:a="http://schemas.openxmlformats.org/drawingml/2006/main">
            <a:pPr algn="l">
              <a:buNone/>
              <a:defRPr sz="3600" b="1">
                <a:solidFill>
                  <a:srgbClr val="111111"/>
                </a:solidFill>
                <a:latin typeface="Malgun Gothic"/>
                <a:ea typeface="Malgun Gothic"/>
                <a:cs typeface="Malgun Gothic"/>
              </a:defRPr>
            </a:pPr>
            <a:r>
              <a:rPr sz="3600" b="1">
                <a:solidFill>
                  <a:srgbClr val="111111"/>
                </a:solidFill>
                <a:latin typeface="Malgun Gothic"/>
                <a:ea typeface="Malgun Gothic"/>
                <a:cs typeface="Malgun Gothic"/>
              </a:rPr>
              <a:t>Validate calibration, then reanalyze only failed ROIs</a:t>
            </a:r>
          </a:p>
        </p:txBody>
      </p:sp>
      <p:sp>
        <p:nvSpPr>
          <p:cNvPr id="3" name="">
            <a:extLst xmlns:a="http://schemas.openxmlformats.org/drawingml/2006/main">
              <a:ext uri="{FF2B5EF4-FFF2-40B4-BE49-F238E27FC236}">
                <a16:creationId xmlns:a16="http://schemas.microsoft.com/office/drawing/2014/main" id="{8525A185-C7AD-4830-BA11-C8901D3DB56F}"/>
              </a:ext>
            </a:extLst>
          </p:cNvPr>
          <p:cNvSpPr>
            <a:spLocks xmlns:a="http://schemas.openxmlformats.org/drawingml/2006/main" noGrp="1"/>
          </p:cNvSpPr>
          <p:nvPr/>
        </p:nvSpPr>
        <p:spPr>
          <a:xfrm xmlns:a="http://schemas.openxmlformats.org/drawingml/2006/main">
            <a:off x="3943350" y="3571875"/>
            <a:ext cx="361950" cy="2857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4" name="">
            <a:extLst xmlns:a="http://schemas.openxmlformats.org/drawingml/2006/main">
              <a:ext uri="{FF2B5EF4-FFF2-40B4-BE49-F238E27FC236}">
                <a16:creationId xmlns:a16="http://schemas.microsoft.com/office/drawing/2014/main" id="{C5F6ED0C-439D-4F6A-AF4E-690D1DD781FA}"/>
              </a:ext>
            </a:extLst>
          </p:cNvPr>
          <p:cNvSpPr>
            <a:spLocks xmlns:a="http://schemas.openxmlformats.org/drawingml/2006/main" noGrp="1"/>
          </p:cNvSpPr>
          <p:nvPr/>
        </p:nvSpPr>
        <p:spPr>
          <a:xfrm xmlns:a="http://schemas.openxmlformats.org/drawingml/2006/main">
            <a:off x="7877175" y="3571875"/>
            <a:ext cx="361950" cy="2857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5" name="lane-background-1">
            <a:extLst xmlns:a="http://schemas.openxmlformats.org/drawingml/2006/main">
              <a:ext uri="{FF2B5EF4-FFF2-40B4-BE49-F238E27FC236}">
                <a16:creationId xmlns:a16="http://schemas.microsoft.com/office/drawing/2014/main" id="{06D7A43F-ADBB-4C3D-BA2F-ACFF63DB3B69}"/>
              </a:ext>
            </a:extLst>
          </p:cNvPr>
          <p:cNvSpPr>
            <a:spLocks xmlns:a="http://schemas.openxmlformats.org/drawingml/2006/main" noGrp="1"/>
          </p:cNvSpPr>
          <p:nvPr/>
        </p:nvSpPr>
        <p:spPr>
          <a:xfrm xmlns:a="http://schemas.openxmlformats.org/drawingml/2006/main">
            <a:off x="476250" y="1428750"/>
            <a:ext cx="3371850" cy="42100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 name="lane-heading-1">
            <a:extLst xmlns:a="http://schemas.openxmlformats.org/drawingml/2006/main">
              <a:ext uri="{FF2B5EF4-FFF2-40B4-BE49-F238E27FC236}">
                <a16:creationId xmlns:a16="http://schemas.microsoft.com/office/drawing/2014/main" id="{A7E5B57F-17A1-4D93-BA6C-534A4E5EE42A}"/>
              </a:ext>
            </a:extLst>
          </p:cNvPr>
          <p:cNvSpPr>
            <a:spLocks xmlns:a="http://schemas.openxmlformats.org/drawingml/2006/main" noGrp="1"/>
          </p:cNvSpPr>
          <p:nvPr/>
        </p:nvSpPr>
        <p:spPr>
          <a:xfrm xmlns:a="http://schemas.openxmlformats.org/drawingml/2006/main">
            <a:off x="666750" y="16097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59616D"/>
                </a:solidFill>
                <a:latin typeface="Malgun Gothic"/>
                <a:ea typeface="Malgun Gothic"/>
                <a:cs typeface="Malgun Gothic"/>
              </a:defRPr>
            </a:pPr>
            <a:r>
              <a:rPr sz="1650" b="1">
                <a:solidFill>
                  <a:srgbClr val="59616D"/>
                </a:solidFill>
                <a:latin typeface="Malgun Gothic"/>
                <a:ea typeface="Malgun Gothic"/>
                <a:cs typeface="Malgun Gothic"/>
              </a:rPr>
              <a:t>1 · INPUT &amp; CALIBRATION</a:t>
            </a:r>
          </a:p>
        </p:txBody>
      </p:sp>
      <p:sp>
        <p:nvSpPr>
          <p:cNvPr id="7" name="lane-background-2">
            <a:extLst xmlns:a="http://schemas.openxmlformats.org/drawingml/2006/main">
              <a:ext uri="{FF2B5EF4-FFF2-40B4-BE49-F238E27FC236}">
                <a16:creationId xmlns:a16="http://schemas.microsoft.com/office/drawing/2014/main" id="{53F97D3B-DE09-404C-A244-50DED14C842A}"/>
              </a:ext>
            </a:extLst>
          </p:cNvPr>
          <p:cNvSpPr>
            <a:spLocks xmlns:a="http://schemas.openxmlformats.org/drawingml/2006/main" noGrp="1"/>
          </p:cNvSpPr>
          <p:nvPr/>
        </p:nvSpPr>
        <p:spPr>
          <a:xfrm xmlns:a="http://schemas.openxmlformats.org/drawingml/2006/main">
            <a:off x="4410075" y="1428750"/>
            <a:ext cx="3371850" cy="42100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8" name="lane-heading-2">
            <a:extLst xmlns:a="http://schemas.openxmlformats.org/drawingml/2006/main">
              <a:ext uri="{FF2B5EF4-FFF2-40B4-BE49-F238E27FC236}">
                <a16:creationId xmlns:a16="http://schemas.microsoft.com/office/drawing/2014/main" id="{9DD06A48-ECBA-49B7-97E5-30F323A530A5}"/>
              </a:ext>
            </a:extLst>
          </p:cNvPr>
          <p:cNvSpPr>
            <a:spLocks xmlns:a="http://schemas.openxmlformats.org/drawingml/2006/main" noGrp="1"/>
          </p:cNvSpPr>
          <p:nvPr/>
        </p:nvSpPr>
        <p:spPr>
          <a:xfrm xmlns:a="http://schemas.openxmlformats.org/drawingml/2006/main">
            <a:off x="4600575" y="16097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59616D"/>
                </a:solidFill>
                <a:latin typeface="Malgun Gothic"/>
                <a:ea typeface="Malgun Gothic"/>
                <a:cs typeface="Malgun Gothic"/>
              </a:defRPr>
            </a:pPr>
            <a:r>
              <a:rPr sz="1650" b="1">
                <a:solidFill>
                  <a:srgbClr val="59616D"/>
                </a:solidFill>
                <a:latin typeface="Malgun Gothic"/>
                <a:ea typeface="Malgun Gothic"/>
                <a:cs typeface="Malgun Gothic"/>
              </a:rPr>
              <a:t>2 · GLOBAL ANALYSIS</a:t>
            </a:r>
          </a:p>
        </p:txBody>
      </p:sp>
      <p:sp>
        <p:nvSpPr>
          <p:cNvPr id="9" name="lane-background-3">
            <a:extLst xmlns:a="http://schemas.openxmlformats.org/drawingml/2006/main">
              <a:ext uri="{FF2B5EF4-FFF2-40B4-BE49-F238E27FC236}">
                <a16:creationId xmlns:a16="http://schemas.microsoft.com/office/drawing/2014/main" id="{E17C8CCC-453D-4874-AA16-19B10477E905}"/>
              </a:ext>
            </a:extLst>
          </p:cNvPr>
          <p:cNvSpPr>
            <a:spLocks xmlns:a="http://schemas.openxmlformats.org/drawingml/2006/main" noGrp="1"/>
          </p:cNvSpPr>
          <p:nvPr/>
        </p:nvSpPr>
        <p:spPr>
          <a:xfrm xmlns:a="http://schemas.openxmlformats.org/drawingml/2006/main">
            <a:off x="8343900" y="1428750"/>
            <a:ext cx="3371850" cy="4210050"/>
          </a:xfrm>
          <a:prstGeom xmlns:a="http://schemas.openxmlformats.org/drawingml/2006/main" prst="rect">
            <a:avLst/>
          </a:prstGeom>
          <a:solidFill xmlns:a="http://schemas.openxmlformats.org/drawingml/2006/main">
            <a:srgbClr val="F7FBFD"/>
          </a:solidFill>
          <a:ln xmlns:a="http://schemas.openxmlformats.org/drawingml/2006/main" w="9525">
            <a:solidFill>
              <a:srgbClr val="B8BCC4"/>
            </a:solidFill>
            <a:prstDash val="solid"/>
          </a:ln>
        </p:spPr>
      </p:sp>
      <p:sp>
        <p:nvSpPr>
          <p:cNvPr id="10" name="lane-heading-3">
            <a:extLst xmlns:a="http://schemas.openxmlformats.org/drawingml/2006/main">
              <a:ext uri="{FF2B5EF4-FFF2-40B4-BE49-F238E27FC236}">
                <a16:creationId xmlns:a16="http://schemas.microsoft.com/office/drawing/2014/main" id="{3DC34D98-F141-45E4-AA3C-B168FE27F4A0}"/>
              </a:ext>
            </a:extLst>
          </p:cNvPr>
          <p:cNvSpPr>
            <a:spLocks xmlns:a="http://schemas.openxmlformats.org/drawingml/2006/main" noGrp="1"/>
          </p:cNvSpPr>
          <p:nvPr/>
        </p:nvSpPr>
        <p:spPr>
          <a:xfrm xmlns:a="http://schemas.openxmlformats.org/drawingml/2006/main">
            <a:off x="8534400" y="16097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D8DFF"/>
                </a:solidFill>
                <a:latin typeface="Malgun Gothic"/>
                <a:ea typeface="Malgun Gothic"/>
                <a:cs typeface="Malgun Gothic"/>
              </a:defRPr>
            </a:pPr>
            <a:r>
              <a:rPr sz="1650" b="1">
                <a:solidFill>
                  <a:srgbClr val="3D8DFF"/>
                </a:solidFill>
                <a:latin typeface="Malgun Gothic"/>
                <a:ea typeface="Malgun Gothic"/>
                <a:cs typeface="Malgun Gothic"/>
              </a:rPr>
              <a:t>3 · ROI &amp; REPORT</a:t>
            </a:r>
          </a:p>
        </p:txBody>
      </p:sp>
      <p:sp>
        <p:nvSpPr>
          <p:cNvPr id="11" name="">
            <a:extLst xmlns:a="http://schemas.openxmlformats.org/drawingml/2006/main">
              <a:ext uri="{FF2B5EF4-FFF2-40B4-BE49-F238E27FC236}">
                <a16:creationId xmlns:a16="http://schemas.microsoft.com/office/drawing/2014/main" id="{530D1884-D9B9-41BE-AB0A-4892507779FC}"/>
              </a:ext>
            </a:extLst>
          </p:cNvPr>
          <p:cNvSpPr>
            <a:spLocks xmlns:a="http://schemas.openxmlformats.org/drawingml/2006/main" noGrp="1"/>
          </p:cNvSpPr>
          <p:nvPr/>
        </p:nvSpPr>
        <p:spPr>
          <a:xfrm xmlns:a="http://schemas.openxmlformats.org/drawingml/2006/main">
            <a:off x="2047875" y="28860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2" name="">
            <a:extLst xmlns:a="http://schemas.openxmlformats.org/drawingml/2006/main">
              <a:ext uri="{FF2B5EF4-FFF2-40B4-BE49-F238E27FC236}">
                <a16:creationId xmlns:a16="http://schemas.microsoft.com/office/drawing/2014/main" id="{397FA6D0-55CB-41D3-8D5B-B2313A1C5AE0}"/>
              </a:ext>
            </a:extLst>
          </p:cNvPr>
          <p:cNvSpPr>
            <a:spLocks xmlns:a="http://schemas.openxmlformats.org/drawingml/2006/main" noGrp="1"/>
          </p:cNvSpPr>
          <p:nvPr/>
        </p:nvSpPr>
        <p:spPr>
          <a:xfrm xmlns:a="http://schemas.openxmlformats.org/drawingml/2006/main">
            <a:off x="2047875" y="40671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3" name="">
            <a:extLst xmlns:a="http://schemas.openxmlformats.org/drawingml/2006/main">
              <a:ext uri="{FF2B5EF4-FFF2-40B4-BE49-F238E27FC236}">
                <a16:creationId xmlns:a16="http://schemas.microsoft.com/office/drawing/2014/main" id="{549E2858-2C71-4D11-8B3E-9DA17D713B2B}"/>
              </a:ext>
            </a:extLst>
          </p:cNvPr>
          <p:cNvSpPr>
            <a:spLocks xmlns:a="http://schemas.openxmlformats.org/drawingml/2006/main" noGrp="1"/>
          </p:cNvSpPr>
          <p:nvPr/>
        </p:nvSpPr>
        <p:spPr>
          <a:xfrm xmlns:a="http://schemas.openxmlformats.org/drawingml/2006/main">
            <a:off x="5981700" y="28860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4" name="">
            <a:extLst xmlns:a="http://schemas.openxmlformats.org/drawingml/2006/main">
              <a:ext uri="{FF2B5EF4-FFF2-40B4-BE49-F238E27FC236}">
                <a16:creationId xmlns:a16="http://schemas.microsoft.com/office/drawing/2014/main" id="{EA07A9A8-AA01-4281-8C41-8FDF2FBF59DA}"/>
              </a:ext>
            </a:extLst>
          </p:cNvPr>
          <p:cNvSpPr>
            <a:spLocks xmlns:a="http://schemas.openxmlformats.org/drawingml/2006/main" noGrp="1"/>
          </p:cNvSpPr>
          <p:nvPr/>
        </p:nvSpPr>
        <p:spPr>
          <a:xfrm xmlns:a="http://schemas.openxmlformats.org/drawingml/2006/main">
            <a:off x="5981700" y="40671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5" name="">
            <a:extLst xmlns:a="http://schemas.openxmlformats.org/drawingml/2006/main">
              <a:ext uri="{FF2B5EF4-FFF2-40B4-BE49-F238E27FC236}">
                <a16:creationId xmlns:a16="http://schemas.microsoft.com/office/drawing/2014/main" id="{D9AF32F5-E257-4E5B-AE35-539ECD76EDAA}"/>
              </a:ext>
            </a:extLst>
          </p:cNvPr>
          <p:cNvSpPr>
            <a:spLocks xmlns:a="http://schemas.openxmlformats.org/drawingml/2006/main" noGrp="1"/>
          </p:cNvSpPr>
          <p:nvPr/>
        </p:nvSpPr>
        <p:spPr>
          <a:xfrm xmlns:a="http://schemas.openxmlformats.org/drawingml/2006/main">
            <a:off x="9915525" y="28860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1B5C95EB-1762-49FF-BD84-EE8B50432822}"/>
              </a:ext>
            </a:extLst>
          </p:cNvPr>
          <p:cNvSpPr>
            <a:spLocks xmlns:a="http://schemas.openxmlformats.org/drawingml/2006/main" noGrp="1"/>
          </p:cNvSpPr>
          <p:nvPr/>
        </p:nvSpPr>
        <p:spPr>
          <a:xfrm xmlns:a="http://schemas.openxmlformats.org/drawingml/2006/main">
            <a:off x="9915525" y="4067175"/>
            <a:ext cx="228600" cy="171450"/>
          </a:xfrm>
          <a:prstGeom xmlns:a="http://schemas.openxmlformats.org/drawingml/2006/main" prst="downArrow">
            <a:avLst/>
          </a:prstGeom>
          <a:solidFill xmlns:a="http://schemas.openxmlformats.org/drawingml/2006/main">
            <a:srgbClr val="B8BCC4"/>
          </a:solidFill>
          <a:ln xmlns:a="http://schemas.openxmlformats.org/drawingml/2006/main" w="0">
            <a:solidFill>
              <a:srgbClr val="B8BCC4"/>
            </a:solidFill>
            <a:prstDash val="solid"/>
          </a:ln>
        </p:spPr>
      </p:sp>
      <p:sp>
        <p:nvSpPr>
          <p:cNvPr id="17" name="lane-데이터 선택">
            <a:extLst xmlns:a="http://schemas.openxmlformats.org/drawingml/2006/main">
              <a:ext uri="{FF2B5EF4-FFF2-40B4-BE49-F238E27FC236}">
                <a16:creationId xmlns:a16="http://schemas.microsoft.com/office/drawing/2014/main" id="{DFC5950E-F649-4DCD-BBB3-B947653B4DEE}"/>
              </a:ext>
            </a:extLst>
          </p:cNvPr>
          <p:cNvSpPr>
            <a:spLocks xmlns:a="http://schemas.openxmlformats.org/drawingml/2006/main" noGrp="1"/>
          </p:cNvSpPr>
          <p:nvPr/>
        </p:nvSpPr>
        <p:spPr>
          <a:xfrm xmlns:a="http://schemas.openxmlformats.org/drawingml/2006/main">
            <a:off x="685800" y="2095500"/>
            <a:ext cx="2952750" cy="7810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8" name="lane-데이터 선택-title">
            <a:extLst xmlns:a="http://schemas.openxmlformats.org/drawingml/2006/main">
              <a:ext uri="{FF2B5EF4-FFF2-40B4-BE49-F238E27FC236}">
                <a16:creationId xmlns:a16="http://schemas.microsoft.com/office/drawing/2014/main" id="{F209E83E-38B7-476F-A9E1-709F903C7D99}"/>
              </a:ext>
            </a:extLst>
          </p:cNvPr>
          <p:cNvSpPr>
            <a:spLocks xmlns:a="http://schemas.openxmlformats.org/drawingml/2006/main" noGrp="1"/>
          </p:cNvSpPr>
          <p:nvPr/>
        </p:nvSpPr>
        <p:spPr>
          <a:xfrm xmlns:a="http://schemas.openxmlformats.org/drawingml/2006/main">
            <a:off x="838200" y="219075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Select data</a:t>
            </a:r>
          </a:p>
        </p:txBody>
      </p:sp>
      <p:sp>
        <p:nvSpPr>
          <p:cNvPr id="19" name="lane-데이터 선택-detail">
            <a:extLst xmlns:a="http://schemas.openxmlformats.org/drawingml/2006/main">
              <a:ext uri="{FF2B5EF4-FFF2-40B4-BE49-F238E27FC236}">
                <a16:creationId xmlns:a16="http://schemas.microsoft.com/office/drawing/2014/main" id="{8342DA54-665A-4CA5-A04A-9B5F311CFC52}"/>
              </a:ext>
            </a:extLst>
          </p:cNvPr>
          <p:cNvSpPr>
            <a:spLocks xmlns:a="http://schemas.openxmlformats.org/drawingml/2006/main" noGrp="1"/>
          </p:cNvSpPr>
          <p:nvPr/>
        </p:nvSpPr>
        <p:spPr>
          <a:xfrm xmlns:a="http://schemas.openxmlformats.org/drawingml/2006/main">
            <a:off x="838200" y="253365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CERES entry or BIL/HDR</a:t>
            </a:r>
          </a:p>
        </p:txBody>
      </p:sp>
      <p:sp>
        <p:nvSpPr>
          <p:cNvPr id="20" name="lane-White + Dark">
            <a:extLst xmlns:a="http://schemas.openxmlformats.org/drawingml/2006/main">
              <a:ext uri="{FF2B5EF4-FFF2-40B4-BE49-F238E27FC236}">
                <a16:creationId xmlns:a16="http://schemas.microsoft.com/office/drawing/2014/main" id="{924D60A2-134C-4F6C-9CBC-ABFBD57B399C}"/>
              </a:ext>
            </a:extLst>
          </p:cNvPr>
          <p:cNvSpPr>
            <a:spLocks xmlns:a="http://schemas.openxmlformats.org/drawingml/2006/main" noGrp="1"/>
          </p:cNvSpPr>
          <p:nvPr/>
        </p:nvSpPr>
        <p:spPr>
          <a:xfrm xmlns:a="http://schemas.openxmlformats.org/drawingml/2006/main">
            <a:off x="685800" y="3067050"/>
            <a:ext cx="2952750" cy="9906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1" name="lane-White + Dark-title">
            <a:extLst xmlns:a="http://schemas.openxmlformats.org/drawingml/2006/main">
              <a:ext uri="{FF2B5EF4-FFF2-40B4-BE49-F238E27FC236}">
                <a16:creationId xmlns:a16="http://schemas.microsoft.com/office/drawing/2014/main" id="{4B012A54-5AA4-4A70-98BD-289F33199D8E}"/>
              </a:ext>
            </a:extLst>
          </p:cNvPr>
          <p:cNvSpPr>
            <a:spLocks xmlns:a="http://schemas.openxmlformats.org/drawingml/2006/main" noGrp="1"/>
          </p:cNvSpPr>
          <p:nvPr/>
        </p:nvSpPr>
        <p:spPr>
          <a:xfrm xmlns:a="http://schemas.openxmlformats.org/drawingml/2006/main">
            <a:off x="838200"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White + Dark</a:t>
            </a:r>
          </a:p>
        </p:txBody>
      </p:sp>
      <p:sp>
        <p:nvSpPr>
          <p:cNvPr id="22" name="lane-White + Dark-detail">
            <a:extLst xmlns:a="http://schemas.openxmlformats.org/drawingml/2006/main">
              <a:ext uri="{FF2B5EF4-FFF2-40B4-BE49-F238E27FC236}">
                <a16:creationId xmlns:a16="http://schemas.microsoft.com/office/drawing/2014/main" id="{7D56DB59-74CD-4F74-98D6-55643D0DDBAA}"/>
              </a:ext>
            </a:extLst>
          </p:cNvPr>
          <p:cNvSpPr>
            <a:spLocks xmlns:a="http://schemas.openxmlformats.org/drawingml/2006/main" noGrp="1"/>
          </p:cNvSpPr>
          <p:nvPr/>
        </p:nvSpPr>
        <p:spPr>
          <a:xfrm xmlns:a="http://schemas.openxmlformats.org/drawingml/2006/main">
            <a:off x="838200" y="3505200"/>
            <a:ext cx="2647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Panel ROI and sensor dark</a:t>
            </a:r>
          </a:p>
        </p:txBody>
      </p:sp>
      <p:sp>
        <p:nvSpPr>
          <p:cNvPr id="23" name="lane-calibration.npz + QC">
            <a:extLst xmlns:a="http://schemas.openxmlformats.org/drawingml/2006/main">
              <a:ext uri="{FF2B5EF4-FFF2-40B4-BE49-F238E27FC236}">
                <a16:creationId xmlns:a16="http://schemas.microsoft.com/office/drawing/2014/main" id="{7CDB5EF0-03A3-447F-8725-C658DACC5313}"/>
              </a:ext>
            </a:extLst>
          </p:cNvPr>
          <p:cNvSpPr>
            <a:spLocks xmlns:a="http://schemas.openxmlformats.org/drawingml/2006/main" noGrp="1"/>
          </p:cNvSpPr>
          <p:nvPr/>
        </p:nvSpPr>
        <p:spPr>
          <a:xfrm xmlns:a="http://schemas.openxmlformats.org/drawingml/2006/main">
            <a:off x="685800" y="4248150"/>
            <a:ext cx="2952750" cy="1219200"/>
          </a:xfrm>
          <a:prstGeom xmlns:a="http://schemas.openxmlformats.org/drawingml/2006/main" prst="rect">
            <a:avLst/>
          </a:prstGeom>
          <a:solidFill xmlns:a="http://schemas.openxmlformats.org/drawingml/2006/main">
            <a:srgbClr val="DDF3FC"/>
          </a:solidFill>
          <a:ln xmlns:a="http://schemas.openxmlformats.org/drawingml/2006/main" w="19050">
            <a:solidFill>
              <a:srgbClr val="3D8DFF"/>
            </a:solidFill>
            <a:prstDash val="solid"/>
          </a:ln>
        </p:spPr>
      </p:sp>
      <p:sp>
        <p:nvSpPr>
          <p:cNvPr id="24" name="lane-calibration.npz + QC-title">
            <a:extLst xmlns:a="http://schemas.openxmlformats.org/drawingml/2006/main">
              <a:ext uri="{FF2B5EF4-FFF2-40B4-BE49-F238E27FC236}">
                <a16:creationId xmlns:a16="http://schemas.microsoft.com/office/drawing/2014/main" id="{A1ED4FAF-55D8-46E5-9D9E-69505FCE0B41}"/>
              </a:ext>
            </a:extLst>
          </p:cNvPr>
          <p:cNvSpPr>
            <a:spLocks xmlns:a="http://schemas.openxmlformats.org/drawingml/2006/main" noGrp="1"/>
          </p:cNvSpPr>
          <p:nvPr/>
        </p:nvSpPr>
        <p:spPr>
          <a:xfrm xmlns:a="http://schemas.openxmlformats.org/drawingml/2006/main">
            <a:off x="838200" y="43434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calibration.npz + QC</a:t>
            </a:r>
          </a:p>
        </p:txBody>
      </p:sp>
      <p:sp>
        <p:nvSpPr>
          <p:cNvPr id="25" name="lane-calibration.npz + QC-detail">
            <a:extLst xmlns:a="http://schemas.openxmlformats.org/drawingml/2006/main">
              <a:ext uri="{FF2B5EF4-FFF2-40B4-BE49-F238E27FC236}">
                <a16:creationId xmlns:a16="http://schemas.microsoft.com/office/drawing/2014/main" id="{655332F3-3BBA-46BE-BE5C-A71CFA83F341}"/>
              </a:ext>
            </a:extLst>
          </p:cNvPr>
          <p:cNvSpPr>
            <a:spLocks xmlns:a="http://schemas.openxmlformats.org/drawingml/2006/main" noGrp="1"/>
          </p:cNvSpPr>
          <p:nvPr/>
        </p:nvSpPr>
        <p:spPr>
          <a:xfrm xmlns:a="http://schemas.openxmlformats.org/drawingml/2006/main">
            <a:off x="838200" y="4686300"/>
            <a:ext cx="2647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Saturation · 800 nm steps</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Valid wavelengths · continuity</a:t>
            </a:r>
          </a:p>
        </p:txBody>
      </p:sp>
      <p:sp>
        <p:nvSpPr>
          <p:cNvPr id="26" name="lane-RGB / 빠른 미리보기">
            <a:extLst xmlns:a="http://schemas.openxmlformats.org/drawingml/2006/main">
              <a:ext uri="{FF2B5EF4-FFF2-40B4-BE49-F238E27FC236}">
                <a16:creationId xmlns:a16="http://schemas.microsoft.com/office/drawing/2014/main" id="{1012ED45-E081-4E3F-B8BE-B60B1F764D8E}"/>
              </a:ext>
            </a:extLst>
          </p:cNvPr>
          <p:cNvSpPr>
            <a:spLocks xmlns:a="http://schemas.openxmlformats.org/drawingml/2006/main" noGrp="1"/>
          </p:cNvSpPr>
          <p:nvPr/>
        </p:nvSpPr>
        <p:spPr>
          <a:xfrm xmlns:a="http://schemas.openxmlformats.org/drawingml/2006/main">
            <a:off x="4619625" y="2095500"/>
            <a:ext cx="2952750" cy="7810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7" name="lane-RGB / 빠른 미리보기-title">
            <a:extLst xmlns:a="http://schemas.openxmlformats.org/drawingml/2006/main">
              <a:ext uri="{FF2B5EF4-FFF2-40B4-BE49-F238E27FC236}">
                <a16:creationId xmlns:a16="http://schemas.microsoft.com/office/drawing/2014/main" id="{E6617066-844D-487E-B198-E4328FFB727F}"/>
              </a:ext>
            </a:extLst>
          </p:cNvPr>
          <p:cNvSpPr>
            <a:spLocks xmlns:a="http://schemas.openxmlformats.org/drawingml/2006/main" noGrp="1"/>
          </p:cNvSpPr>
          <p:nvPr/>
        </p:nvSpPr>
        <p:spPr>
          <a:xfrm xmlns:a="http://schemas.openxmlformats.org/drawingml/2006/main">
            <a:off x="4772025" y="219075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RGB / Quick preview</a:t>
            </a:r>
          </a:p>
        </p:txBody>
      </p:sp>
      <p:sp>
        <p:nvSpPr>
          <p:cNvPr id="28" name="lane-RGB / 빠른 미리보기-detail">
            <a:extLst xmlns:a="http://schemas.openxmlformats.org/drawingml/2006/main">
              <a:ext uri="{FF2B5EF4-FFF2-40B4-BE49-F238E27FC236}">
                <a16:creationId xmlns:a16="http://schemas.microsoft.com/office/drawing/2014/main" id="{443578B8-3510-4951-B73A-9F9C8591E1AB}"/>
              </a:ext>
            </a:extLst>
          </p:cNvPr>
          <p:cNvSpPr>
            <a:spLocks xmlns:a="http://schemas.openxmlformats.org/drawingml/2006/main" noGrp="1"/>
          </p:cNvSpPr>
          <p:nvPr/>
        </p:nvSpPr>
        <p:spPr>
          <a:xfrm xmlns:a="http://schemas.openxmlformats.org/drawingml/2006/main">
            <a:off x="4772025" y="253365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Preview large scenes first</a:t>
            </a:r>
          </a:p>
        </p:txBody>
      </p:sp>
      <p:sp>
        <p:nvSpPr>
          <p:cNvPr id="29" name="lane-분석 데이터 선택">
            <a:extLst xmlns:a="http://schemas.openxmlformats.org/drawingml/2006/main">
              <a:ext uri="{FF2B5EF4-FFF2-40B4-BE49-F238E27FC236}">
                <a16:creationId xmlns:a16="http://schemas.microsoft.com/office/drawing/2014/main" id="{E83D1180-7DAA-46C8-894F-C8BFCB449617}"/>
              </a:ext>
            </a:extLst>
          </p:cNvPr>
          <p:cNvSpPr>
            <a:spLocks xmlns:a="http://schemas.openxmlformats.org/drawingml/2006/main" noGrp="1"/>
          </p:cNvSpPr>
          <p:nvPr/>
        </p:nvSpPr>
        <p:spPr>
          <a:xfrm xmlns:a="http://schemas.openxmlformats.org/drawingml/2006/main">
            <a:off x="4619625" y="3067050"/>
            <a:ext cx="2952750" cy="9906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30" name="lane-분석 데이터 선택-title">
            <a:extLst xmlns:a="http://schemas.openxmlformats.org/drawingml/2006/main">
              <a:ext uri="{FF2B5EF4-FFF2-40B4-BE49-F238E27FC236}">
                <a16:creationId xmlns:a16="http://schemas.microsoft.com/office/drawing/2014/main" id="{18F70B43-EABA-49BD-B058-A816DDC15BAA}"/>
              </a:ext>
            </a:extLst>
          </p:cNvPr>
          <p:cNvSpPr>
            <a:spLocks xmlns:a="http://schemas.openxmlformats.org/drawingml/2006/main" noGrp="1"/>
          </p:cNvSpPr>
          <p:nvPr/>
        </p:nvSpPr>
        <p:spPr>
          <a:xfrm xmlns:a="http://schemas.openxmlformats.org/drawingml/2006/main">
            <a:off x="4772025"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Choose analysis data</a:t>
            </a:r>
          </a:p>
        </p:txBody>
      </p:sp>
      <p:sp>
        <p:nvSpPr>
          <p:cNvPr id="31" name="lane-분석 데이터 선택-detail">
            <a:extLst xmlns:a="http://schemas.openxmlformats.org/drawingml/2006/main">
              <a:ext uri="{FF2B5EF4-FFF2-40B4-BE49-F238E27FC236}">
                <a16:creationId xmlns:a16="http://schemas.microsoft.com/office/drawing/2014/main" id="{CDBE83B3-17E0-4335-9B26-352A034ED302}"/>
              </a:ext>
            </a:extLst>
          </p:cNvPr>
          <p:cNvSpPr>
            <a:spLocks xmlns:a="http://schemas.openxmlformats.org/drawingml/2006/main" noGrp="1"/>
          </p:cNvSpPr>
          <p:nvPr/>
        </p:nvSpPr>
        <p:spPr>
          <a:xfrm xmlns:a="http://schemas.openxmlformats.org/drawingml/2006/main">
            <a:off x="4772025" y="3505200"/>
            <a:ext cx="2647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174"/>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Default: normalized Raw DN</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Optional: calibrated reflectance</a:t>
            </a:r>
          </a:p>
        </p:txBody>
      </p:sp>
      <p:sp>
        <p:nvSpPr>
          <p:cNvPr id="32" name="lane-전체 클러스터링">
            <a:extLst xmlns:a="http://schemas.openxmlformats.org/drawingml/2006/main">
              <a:ext uri="{FF2B5EF4-FFF2-40B4-BE49-F238E27FC236}">
                <a16:creationId xmlns:a16="http://schemas.microsoft.com/office/drawing/2014/main" id="{D888D3BF-3FF9-48E6-A97C-56561B38C018}"/>
              </a:ext>
            </a:extLst>
          </p:cNvPr>
          <p:cNvSpPr>
            <a:spLocks xmlns:a="http://schemas.openxmlformats.org/drawingml/2006/main" noGrp="1"/>
          </p:cNvSpPr>
          <p:nvPr/>
        </p:nvSpPr>
        <p:spPr>
          <a:xfrm xmlns:a="http://schemas.openxmlformats.org/drawingml/2006/main">
            <a:off x="4619625" y="4248150"/>
            <a:ext cx="2952750" cy="1219200"/>
          </a:xfrm>
          <a:prstGeom xmlns:a="http://schemas.openxmlformats.org/drawingml/2006/main" prst="rect">
            <a:avLst/>
          </a:prstGeom>
          <a:solidFill xmlns:a="http://schemas.openxmlformats.org/drawingml/2006/main">
            <a:srgbClr val="DDF3FC"/>
          </a:solidFill>
          <a:ln xmlns:a="http://schemas.openxmlformats.org/drawingml/2006/main" w="19050">
            <a:solidFill>
              <a:srgbClr val="3D8DFF"/>
            </a:solidFill>
            <a:prstDash val="solid"/>
          </a:ln>
        </p:spPr>
      </p:sp>
      <p:sp>
        <p:nvSpPr>
          <p:cNvPr id="33" name="lane-전체 클러스터링-title">
            <a:extLst xmlns:a="http://schemas.openxmlformats.org/drawingml/2006/main">
              <a:ext uri="{FF2B5EF4-FFF2-40B4-BE49-F238E27FC236}">
                <a16:creationId xmlns:a16="http://schemas.microsoft.com/office/drawing/2014/main" id="{4B5DA333-87BA-4C8A-B9FF-0C67DDEA5FDA}"/>
              </a:ext>
            </a:extLst>
          </p:cNvPr>
          <p:cNvSpPr>
            <a:spLocks xmlns:a="http://schemas.openxmlformats.org/drawingml/2006/main" noGrp="1"/>
          </p:cNvSpPr>
          <p:nvPr/>
        </p:nvSpPr>
        <p:spPr>
          <a:xfrm xmlns:a="http://schemas.openxmlformats.org/drawingml/2006/main">
            <a:off x="4772025" y="43434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Global clustering</a:t>
            </a:r>
          </a:p>
        </p:txBody>
      </p:sp>
      <p:sp>
        <p:nvSpPr>
          <p:cNvPr id="34" name="lane-전체 클러스터링-detail">
            <a:extLst xmlns:a="http://schemas.openxmlformats.org/drawingml/2006/main">
              <a:ext uri="{FF2B5EF4-FFF2-40B4-BE49-F238E27FC236}">
                <a16:creationId xmlns:a16="http://schemas.microsoft.com/office/drawing/2014/main" id="{D4F55E5D-5D5C-45EB-B79D-2ECF7F70AA23}"/>
              </a:ext>
            </a:extLst>
          </p:cNvPr>
          <p:cNvSpPr>
            <a:spLocks xmlns:a="http://schemas.openxmlformats.org/drawingml/2006/main" noGrp="1"/>
          </p:cNvSpPr>
          <p:nvPr/>
        </p:nvSpPr>
        <p:spPr>
          <a:xfrm xmlns:a="http://schemas.openxmlformats.org/drawingml/2006/main">
            <a:off x="4772025" y="4686300"/>
            <a:ext cx="2647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RGB + overlay verifies</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leaf · soil · shadow separation</a:t>
            </a:r>
          </a:p>
        </p:txBody>
      </p:sp>
      <p:sp>
        <p:nvSpPr>
          <p:cNvPr id="35" name="lane-ROI 설정">
            <a:extLst xmlns:a="http://schemas.openxmlformats.org/drawingml/2006/main">
              <a:ext uri="{FF2B5EF4-FFF2-40B4-BE49-F238E27FC236}">
                <a16:creationId xmlns:a16="http://schemas.microsoft.com/office/drawing/2014/main" id="{44E416E2-CDF1-4D94-AA6D-3A5DBBCB4D5C}"/>
              </a:ext>
            </a:extLst>
          </p:cNvPr>
          <p:cNvSpPr>
            <a:spLocks xmlns:a="http://schemas.openxmlformats.org/drawingml/2006/main" noGrp="1"/>
          </p:cNvSpPr>
          <p:nvPr/>
        </p:nvSpPr>
        <p:spPr>
          <a:xfrm xmlns:a="http://schemas.openxmlformats.org/drawingml/2006/main">
            <a:off x="8553450" y="2095500"/>
            <a:ext cx="2952750" cy="7810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36" name="lane-ROI 설정-title">
            <a:extLst xmlns:a="http://schemas.openxmlformats.org/drawingml/2006/main">
              <a:ext uri="{FF2B5EF4-FFF2-40B4-BE49-F238E27FC236}">
                <a16:creationId xmlns:a16="http://schemas.microsoft.com/office/drawing/2014/main" id="{BDF1701A-6382-4741-AFDC-50AD21399B45}"/>
              </a:ext>
            </a:extLst>
          </p:cNvPr>
          <p:cNvSpPr>
            <a:spLocks xmlns:a="http://schemas.openxmlformats.org/drawingml/2006/main" noGrp="1"/>
          </p:cNvSpPr>
          <p:nvPr/>
        </p:nvSpPr>
        <p:spPr>
          <a:xfrm xmlns:a="http://schemas.openxmlformats.org/drawingml/2006/main">
            <a:off x="8705850" y="219075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Define ROI</a:t>
            </a:r>
          </a:p>
        </p:txBody>
      </p:sp>
      <p:sp>
        <p:nvSpPr>
          <p:cNvPr id="37" name="lane-ROI 설정-detail">
            <a:extLst xmlns:a="http://schemas.openxmlformats.org/drawingml/2006/main">
              <a:ext uri="{FF2B5EF4-FFF2-40B4-BE49-F238E27FC236}">
                <a16:creationId xmlns:a16="http://schemas.microsoft.com/office/drawing/2014/main" id="{BE0838D1-2ED7-4107-9A3F-7DD4A069D256}"/>
              </a:ext>
            </a:extLst>
          </p:cNvPr>
          <p:cNvSpPr>
            <a:spLocks xmlns:a="http://schemas.openxmlformats.org/drawingml/2006/main" noGrp="1"/>
          </p:cNvSpPr>
          <p:nvPr/>
        </p:nvSpPr>
        <p:spPr>
          <a:xfrm xmlns:a="http://schemas.openxmlformats.org/drawingml/2006/main">
            <a:off x="8705850" y="253365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Box or polygon regions</a:t>
            </a:r>
          </a:p>
        </p:txBody>
      </p:sp>
      <p:sp>
        <p:nvSpPr>
          <p:cNvPr id="38" name="lane-품질에 따라 분기">
            <a:extLst xmlns:a="http://schemas.openxmlformats.org/drawingml/2006/main">
              <a:ext uri="{FF2B5EF4-FFF2-40B4-BE49-F238E27FC236}">
                <a16:creationId xmlns:a16="http://schemas.microsoft.com/office/drawing/2014/main" id="{3316F38E-7056-4DA9-BAEB-1E03D8C0C070}"/>
              </a:ext>
            </a:extLst>
          </p:cNvPr>
          <p:cNvSpPr>
            <a:spLocks xmlns:a="http://schemas.openxmlformats.org/drawingml/2006/main" noGrp="1"/>
          </p:cNvSpPr>
          <p:nvPr/>
        </p:nvSpPr>
        <p:spPr>
          <a:xfrm xmlns:a="http://schemas.openxmlformats.org/drawingml/2006/main">
            <a:off x="8553450" y="3067050"/>
            <a:ext cx="2952750" cy="9906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39" name="lane-품질에 따라 분기-title">
            <a:extLst xmlns:a="http://schemas.openxmlformats.org/drawingml/2006/main">
              <a:ext uri="{FF2B5EF4-FFF2-40B4-BE49-F238E27FC236}">
                <a16:creationId xmlns:a16="http://schemas.microsoft.com/office/drawing/2014/main" id="{14D03508-7792-4346-9471-6FC79E13B7DB}"/>
              </a:ext>
            </a:extLst>
          </p:cNvPr>
          <p:cNvSpPr>
            <a:spLocks xmlns:a="http://schemas.openxmlformats.org/drawingml/2006/main" noGrp="1"/>
          </p:cNvSpPr>
          <p:nvPr/>
        </p:nvSpPr>
        <p:spPr>
          <a:xfrm xmlns:a="http://schemas.openxmlformats.org/drawingml/2006/main">
            <a:off x="8705850" y="31623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Quality check</a:t>
            </a:r>
          </a:p>
        </p:txBody>
      </p:sp>
      <p:sp>
        <p:nvSpPr>
          <p:cNvPr id="40" name="lane-품질에 따라 분기-detail">
            <a:extLst xmlns:a="http://schemas.openxmlformats.org/drawingml/2006/main">
              <a:ext uri="{FF2B5EF4-FFF2-40B4-BE49-F238E27FC236}">
                <a16:creationId xmlns:a16="http://schemas.microsoft.com/office/drawing/2014/main" id="{3A098113-67BD-49F3-A83F-D2B05D8E47EF}"/>
              </a:ext>
            </a:extLst>
          </p:cNvPr>
          <p:cNvSpPr>
            <a:spLocks xmlns:a="http://schemas.openxmlformats.org/drawingml/2006/main" noGrp="1"/>
          </p:cNvSpPr>
          <p:nvPr/>
        </p:nvSpPr>
        <p:spPr>
          <a:xfrm xmlns:a="http://schemas.openxmlformats.org/drawingml/2006/main">
            <a:off x="8705850" y="3505200"/>
            <a:ext cx="2647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Good → extract</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Poor → recluster the ROI</a:t>
            </a:r>
          </a:p>
        </p:txBody>
      </p:sp>
      <p:sp>
        <p:nvSpPr>
          <p:cNvPr id="41" name="lane-결과 저장">
            <a:extLst xmlns:a="http://schemas.openxmlformats.org/drawingml/2006/main">
              <a:ext uri="{FF2B5EF4-FFF2-40B4-BE49-F238E27FC236}">
                <a16:creationId xmlns:a16="http://schemas.microsoft.com/office/drawing/2014/main" id="{BE97BD14-B150-4DED-9E70-44478839DFFC}"/>
              </a:ext>
            </a:extLst>
          </p:cNvPr>
          <p:cNvSpPr>
            <a:spLocks xmlns:a="http://schemas.openxmlformats.org/drawingml/2006/main" noGrp="1"/>
          </p:cNvSpPr>
          <p:nvPr/>
        </p:nvSpPr>
        <p:spPr>
          <a:xfrm xmlns:a="http://schemas.openxmlformats.org/drawingml/2006/main">
            <a:off x="8553450" y="4248150"/>
            <a:ext cx="2952750" cy="1219200"/>
          </a:xfrm>
          <a:prstGeom xmlns:a="http://schemas.openxmlformats.org/drawingml/2006/main" prst="rect">
            <a:avLst/>
          </a:prstGeom>
          <a:solidFill xmlns:a="http://schemas.openxmlformats.org/drawingml/2006/main">
            <a:srgbClr val="DDF3FC"/>
          </a:solidFill>
          <a:ln xmlns:a="http://schemas.openxmlformats.org/drawingml/2006/main" w="19050">
            <a:solidFill>
              <a:srgbClr val="3D8DFF"/>
            </a:solidFill>
            <a:prstDash val="solid"/>
          </a:ln>
        </p:spPr>
      </p:sp>
      <p:sp>
        <p:nvSpPr>
          <p:cNvPr id="42" name="lane-결과 저장-title">
            <a:extLst xmlns:a="http://schemas.openxmlformats.org/drawingml/2006/main">
              <a:ext uri="{FF2B5EF4-FFF2-40B4-BE49-F238E27FC236}">
                <a16:creationId xmlns:a16="http://schemas.microsoft.com/office/drawing/2014/main" id="{5AB7CBDB-78E3-433B-9DD5-714FDCFE7DF4}"/>
              </a:ext>
            </a:extLst>
          </p:cNvPr>
          <p:cNvSpPr>
            <a:spLocks xmlns:a="http://schemas.openxmlformats.org/drawingml/2006/main" noGrp="1"/>
          </p:cNvSpPr>
          <p:nvPr/>
        </p:nvSpPr>
        <p:spPr>
          <a:xfrm xmlns:a="http://schemas.openxmlformats.org/drawingml/2006/main">
            <a:off x="8705850" y="43434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Save results</a:t>
            </a:r>
          </a:p>
        </p:txBody>
      </p:sp>
      <p:sp>
        <p:nvSpPr>
          <p:cNvPr id="43" name="lane-결과 저장-detail">
            <a:extLst xmlns:a="http://schemas.openxmlformats.org/drawingml/2006/main">
              <a:ext uri="{FF2B5EF4-FFF2-40B4-BE49-F238E27FC236}">
                <a16:creationId xmlns:a16="http://schemas.microsoft.com/office/drawing/2014/main" id="{2AC27B82-950F-461E-96A5-1FD871E57BBA}"/>
              </a:ext>
            </a:extLst>
          </p:cNvPr>
          <p:cNvSpPr>
            <a:spLocks xmlns:a="http://schemas.openxmlformats.org/drawingml/2006/main" noGrp="1"/>
          </p:cNvSpPr>
          <p:nvPr/>
        </p:nvSpPr>
        <p:spPr>
          <a:xfrm xmlns:a="http://schemas.openxmlformats.org/drawingml/2006/main">
            <a:off x="8705850" y="4686300"/>
            <a:ext cx="2647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Raw + calibrated spectra</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HTML · Excel · CSV · PNG</a:t>
            </a:r>
          </a:p>
          <a:p xmlns:a="http://schemas.openxmlformats.org/drawingml/2006/main">
            <a:pPr algn="l">
              <a:buNone/>
              <a:defRPr sz="1613" b="0">
                <a:solidFill>
                  <a:srgbClr val="59616D"/>
                </a:solidFill>
                <a:latin typeface="Malgun Gothic"/>
                <a:ea typeface="Malgun Gothic"/>
                <a:cs typeface="Malgun Gothic"/>
              </a:defRPr>
            </a:pPr>
            <a:r>
              <a:rPr sz="1613" b="0">
                <a:solidFill>
                  <a:srgbClr val="59616D"/>
                </a:solidFill>
                <a:latin typeface="Malgun Gothic"/>
                <a:ea typeface="Malgun Gothic"/>
                <a:cs typeface="Malgun Gothic"/>
              </a:rPr>
              <a:t>per-file + daily summaries</a:t>
            </a:r>
          </a:p>
        </p:txBody>
      </p:sp>
      <p:sp>
        <p:nvSpPr>
          <p:cNvPr id="44" name="">
            <a:extLst xmlns:a="http://schemas.openxmlformats.org/drawingml/2006/main">
              <a:ext uri="{FF2B5EF4-FFF2-40B4-BE49-F238E27FC236}">
                <a16:creationId xmlns:a16="http://schemas.microsoft.com/office/drawing/2014/main" id="{586F439C-632C-4E93-A14D-1E80EBDAC50A}"/>
              </a:ext>
            </a:extLst>
          </p:cNvPr>
          <p:cNvSpPr>
            <a:spLocks xmlns:a="http://schemas.openxmlformats.org/drawingml/2006/main" noGrp="1"/>
          </p:cNvSpPr>
          <p:nvPr/>
        </p:nvSpPr>
        <p:spPr>
          <a:xfrm xmlns:a="http://schemas.openxmlformats.org/drawingml/2006/main">
            <a:off x="476250" y="5867400"/>
            <a:ext cx="11239500" cy="514350"/>
          </a:xfrm>
          <a:prstGeom xmlns:a="http://schemas.openxmlformats.org/drawingml/2006/main" prst="rect">
            <a:avLst/>
          </a:prstGeom>
          <a:solidFill xmlns:a="http://schemas.openxmlformats.org/drawingml/2006/main">
            <a:srgbClr val="DDF3FC"/>
          </a:solidFill>
          <a:ln xmlns:a="http://schemas.openxmlformats.org/drawingml/2006/main" w="0">
            <a:solidFill>
              <a:srgbClr val="DDF3FC"/>
            </a:solidFill>
            <a:prstDash val="solid"/>
          </a:ln>
        </p:spPr>
      </p:sp>
      <p:sp>
        <p:nvSpPr>
          <p:cNvPr id="45" name="detail-bottom-note">
            <a:extLst xmlns:a="http://schemas.openxmlformats.org/drawingml/2006/main">
              <a:ext uri="{FF2B5EF4-FFF2-40B4-BE49-F238E27FC236}">
                <a16:creationId xmlns:a16="http://schemas.microsoft.com/office/drawing/2014/main" id="{E66BCDFA-5C29-4C80-8F4C-B0181A77B16A}"/>
              </a:ext>
            </a:extLst>
          </p:cNvPr>
          <p:cNvSpPr>
            <a:spLocks xmlns:a="http://schemas.openxmlformats.org/drawingml/2006/main" noGrp="1"/>
          </p:cNvSpPr>
          <p:nvPr/>
        </p:nvSpPr>
        <p:spPr>
          <a:xfrm xmlns:a="http://schemas.openxmlformats.org/drawingml/2006/main">
            <a:off x="685800" y="60007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D8DFF"/>
                </a:solidFill>
                <a:latin typeface="Malgun Gothic"/>
                <a:ea typeface="Malgun Gothic"/>
                <a:cs typeface="Malgun Gothic"/>
              </a:defRPr>
            </a:pPr>
            <a:r>
              <a:rPr sz="1650" b="1">
                <a:solidFill>
                  <a:srgbClr val="3D8DFF"/>
                </a:solidFill>
                <a:latin typeface="Malgun Gothic"/>
                <a:ea typeface="Malgun Gothic"/>
                <a:cs typeface="Malgun Gothic"/>
              </a:rPr>
              <a:t>QC-approved calibration.npz → final spectra and vegetation indices use calibrated reflectance</a:t>
            </a:r>
          </a:p>
        </p:txBody>
      </p:sp>
      <p:sp>
        <p:nvSpPr>
          <p:cNvPr id="46" name="slide-3-number">
            <a:extLst xmlns:a="http://schemas.openxmlformats.org/drawingml/2006/main">
              <a:ext uri="{FF2B5EF4-FFF2-40B4-BE49-F238E27FC236}">
                <a16:creationId xmlns:a16="http://schemas.microsoft.com/office/drawing/2014/main" id="{297B99DA-879E-44DA-A55A-4C5AC74D401F}"/>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buNone/>
              <a:defRPr sz="1200" b="0">
                <a:solidFill>
                  <a:srgbClr val="59616D"/>
                </a:solidFill>
                <a:latin typeface="Malgun Gothic"/>
                <a:ea typeface="Malgun Gothic"/>
                <a:cs typeface="Malgun Gothic"/>
              </a:defRPr>
            </a:pPr>
            <a:r>
              <a:rPr sz="1200" b="0">
                <a:solidFill>
                  <a:srgbClr val="59616D"/>
                </a:solidFill>
                <a:latin typeface="Malgun Gothic"/>
                <a:ea typeface="Malgun Gothic"/>
                <a:cs typeface="Malgun Gothic"/>
              </a:rPr>
              <a:t>03</a:t>
            </a:r>
          </a:p>
        </p:txBody>
      </p:sp>
    </p:spTree>
    <p:extLst>
      <p:ext uri="{BB962C8B-B14F-4D97-AF65-F5344CB8AC3E}">
        <p14:creationId xmlns:p14="http://schemas.microsoft.com/office/powerpoint/2010/main" val="1489549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2026-09-01T15:38:35.7780000Z</dcterms:created>
  <dcterms:modified xsi:type="dcterms:W3CDTF">2026-09-01T15:38:35.7780000Z</dcterms:modified>
</coreProperties>
</file>