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7d28c0fb214452" /><Relationship Type="http://schemas.openxmlformats.org/officeDocument/2006/relationships/extended-properties" Target="/docProps/app.xml" Id="R1cd430b5879b4dff" /><Relationship Type="http://schemas.openxmlformats.org/officeDocument/2006/relationships/officeDocument" Target="/ppt/presentation.xml" Id="R6369b2eceb774e37" /></Relationships>
</file>

<file path=ppt/presentation.xml><?xml version="1.0" encoding="utf-8"?>
<p:presentation xmlns:p="http://schemas.openxmlformats.org/presentationml/2006/main">
  <p:sldMasterIdLst>
    <p:sldMasterId xmlns:r="http://schemas.openxmlformats.org/officeDocument/2006/relationships" id="2147483648" r:id="R4eadbf0189854148"/>
  </p:sldMasterIdLst>
  <p:notesMasterIdLst>
    <p:notesMasterId xmlns:r="http://schemas.openxmlformats.org/officeDocument/2006/relationships" r:id="R9adb2f040d434b0b"/>
  </p:notesMasterIdLst>
  <p:sldIdLst>
    <p:sldId xmlns:r="http://schemas.openxmlformats.org/officeDocument/2006/relationships" id="256" r:id="Rc7e39aec4f4647dc"/>
    <p:sldId xmlns:r="http://schemas.openxmlformats.org/officeDocument/2006/relationships" id="257" r:id="R456bd583b8a143cf"/>
    <p:sldId xmlns:r="http://schemas.openxmlformats.org/officeDocument/2006/relationships" id="258" r:id="Ra01a3a93fa394b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9764ab154f4b02" /><Relationship Type="http://schemas.openxmlformats.org/officeDocument/2006/relationships/slideMaster" Target="/ppt/slideMasters/slideMaster1.xml" Id="R4eadbf0189854148" /><Relationship Type="http://schemas.openxmlformats.org/officeDocument/2006/relationships/notesMaster" Target="/ppt/notesMasters/notesMaster1.xml" Id="R9adb2f040d434b0b" /><Relationship Type="http://schemas.openxmlformats.org/officeDocument/2006/relationships/presProps" Target="/ppt/presProps.xml" Id="R1c02c9f985a74eb1" /><Relationship Type="http://schemas.openxmlformats.org/officeDocument/2006/relationships/tableStyles" Target="/ppt/tableStyles.xml" Id="R05794b491d63452b" /><Relationship Type="http://schemas.openxmlformats.org/officeDocument/2006/relationships/slide" Target="/ppt/slides/slide1.xml" Id="Rc7e39aec4f4647dc" /><Relationship Type="http://schemas.openxmlformats.org/officeDocument/2006/relationships/slide" Target="/ppt/slides/slide2.xml" Id="R456bd583b8a143cf" /><Relationship Type="http://schemas.openxmlformats.org/officeDocument/2006/relationships/slide" Target="/ppt/slides/slide3.xml" Id="Ra01a3a93fa394b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05a05bf31f4b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fd67f34f6944e7" /><Relationship Type="http://schemas.openxmlformats.org/officeDocument/2006/relationships/notesMaster" Target="/ppt/notesMasters/notesMaster1.xml" Id="R7db561d365f74a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783349cfcd4b1f" /><Relationship Type="http://schemas.openxmlformats.org/officeDocument/2006/relationships/notesMaster" Target="/ppt/notesMasters/notesMaster1.xml" Id="R08ee8d74ed9f45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86d573f852401d" /><Relationship Type="http://schemas.openxmlformats.org/officeDocument/2006/relationships/notesMaster" Target="/ppt/notesMasters/notesMaster1.xml" Id="R65eab0a85fb344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스크립트</a:t>
            </a:r>
          </a:p>
          <a:p xmlns:a="http://schemas.openxmlformats.org/drawingml/2006/main">
            <a:r>
              <a:t>안녕하세요. 오늘 소개할 것은 현장에서 획득한 대용량 초분광 데이터를 연구 결과로 바꾸는 분석 파이프라인입니다.</a:t>
            </a:r>
          </a:p>
          <a:p xmlns:a="http://schemas.openxmlformats.org/drawingml/2006/main">
            <a:r>
              <a:t>이 시스템은 CERES 또는 BIL 데이터를 불러오고, 화이트 패널과 센서 다크를 이용해 반사율을 보정한 다음, 클러스터링과 ROI 분석을 거쳐 자동 리포트를 생성합니다.</a:t>
            </a:r>
          </a:p>
          <a:p xmlns:a="http://schemas.openxmlformats.org/drawingml/2006/main">
            <a:r>
              <a:t>목표는 복잡한 옵션을 늘리는 것이 아니라, 연구팀이 반복 측정 데이터를 빠르고 일관되게 확인할 수 있도록 만드는 것입니다.</a:t>
            </a:r>
          </a:p>
          <a:p xmlns:a="http://schemas.openxmlformats.org/drawingml/2006/main">
            <a:r>
              <a:t>다음 슬라이드에서 전체 과정을 다섯 단계로 간단히 보겠습니다.</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스크립트</a:t>
            </a:r>
          </a:p>
          <a:p xmlns:a="http://schemas.openxmlformats.org/drawingml/2006/main">
            <a:r>
              <a:t>전체 과정은 다섯 단계입니다.</a:t>
            </a:r>
          </a:p>
          <a:p xmlns:a="http://schemas.openxmlformats.org/drawingml/2006/main">
            <a:r>
              <a:t>첫째, CERES 파일 내부에서 원하는 촬영 구간을 선택하거나 기존 BIL과 HDR 파일을 불러옵니다. 둘째, 화이트 패널과 센서 다크를 이용해 반사율 보정파일을 적용합니다.</a:t>
            </a:r>
          </a:p>
          <a:p xmlns:a="http://schemas.openxmlformats.org/drawingml/2006/main">
            <a:r>
              <a:t>셋째, 전체 영상을 클러스터링해서 잎, 토양, 그림자와 밝은 반사 영역을 구분합니다. 넷째, RGB 위에 클러스터 색상을 겹쳐 결과를 확인하고 필요한 ROI를 지정합니다. 마지막으로 HTML, Excel, CSV와 이미지 형태로 결과를 저장하고 하루 단위 요약을 만듭니다.</a:t>
            </a:r>
          </a:p>
          <a:p xmlns:a="http://schemas.openxmlformats.org/drawingml/2006/main">
            <a:r>
              <a:t>여기에서 중요한 점은 클러스터링의 기본 입력은 정규화된 Raw DN이고, 연구용 최종 스펙트럼과 식생지수에는 품질검사를 통과한 보정 반사율이 함께 기록된다는 것입니다.</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스크립트</a:t>
            </a:r>
          </a:p>
          <a:p xmlns:a="http://schemas.openxmlformats.org/drawingml/2006/main">
            <a:r>
              <a:t>조금 더 자세히 보면 과정은 입력과 보정, 전체 영상 분석, ROI와 보고서의 세 부분으로 나뉩니다.</a:t>
            </a:r>
          </a:p>
          <a:p xmlns:a="http://schemas.openxmlformats.org/drawingml/2006/main">
            <a:r>
              <a:t>먼저 CERES 내부 항목이나 BIL 영상을 선택합니다. 보정파일을 만들 때는 화이트 패널과 센서 다크를 사용하고, 포화된 밴드, 800 나노미터 부근의 계단식 점프, 유효 파장과 스펙트럼 연속성을 확인합니다. 이 품질검사를 통과한 calibration.npz만 최종 보정에 사용합니다.</a:t>
            </a:r>
          </a:p>
          <a:p xmlns:a="http://schemas.openxmlformats.org/drawingml/2006/main">
            <a:r>
              <a:t>대용량 영상은 먼저 빠른 미리보기로 확인한 뒤 전체 클러스터링을 수행합니다. 결과는 RGB와 클러스터 오버레이를 함께 보면서 잎, 토양과 그림자가 제대로 분리됐는지 판단합니다.</a:t>
            </a:r>
          </a:p>
          <a:p xmlns:a="http://schemas.openxmlformats.org/drawingml/2006/main">
            <a:r>
              <a:t>결과가 양호하면 ROI별 스펙트럼을 추출합니다. 특정 영역만 좋지 않다면 전체 영상을 다시 처리하지 않고 그 ROI만 별도 설정으로 재클러스터링합니다.</a:t>
            </a:r>
          </a:p>
          <a:p xmlns:a="http://schemas.openxmlformats.org/drawingml/2006/main">
            <a:r>
              <a:t>최종 결과에는 Raw 값과 보정 반사율을 모두 남기고, 파일별 결과와 하루 단위 요약 보고서를 함께 제공합니다. 이렇게 하면 분석 판단이 추적 가능하고 반복 계산도 줄일 수 있습니다.</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9f54a9e1f94b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036bdd960e446b" /><Relationship Type="http://schemas.openxmlformats.org/officeDocument/2006/relationships/slideLayout" Target="/ppt/slideLayouts/slideLayout1.xml" Id="Rb49113bcd36e45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9113bcd36e45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137e56d64b40c8" /><Relationship Type="http://schemas.openxmlformats.org/officeDocument/2006/relationships/notesSlide" Target="/ppt/notesSlides/notesSlide1.xml" Id="R5ecbae838e9741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4526249e5a4d7f" /><Relationship Type="http://schemas.openxmlformats.org/officeDocument/2006/relationships/notesSlide" Target="/ppt/notesSlides/notesSlide2.xml" Id="R05c2ce1accd240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d94536cae94898" /><Relationship Type="http://schemas.openxmlformats.org/officeDocument/2006/relationships/notesSlide" Target="/ppt/notesSlides/notesSlide3.xml" Id="Rbb6ecdc811f24a2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E946E4-DA62-446C-BEC4-9825799E3A4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cover-eyebrow">
            <a:extLst xmlns:a="http://schemas.openxmlformats.org/drawingml/2006/main">
              <a:ext uri="{FF2B5EF4-FFF2-40B4-BE49-F238E27FC236}">
                <a16:creationId xmlns:a16="http://schemas.microsoft.com/office/drawing/2014/main" id="{807CA89A-B74F-474D-9D18-B6D2414DCB41}"/>
              </a:ext>
            </a:extLst>
          </p:cNvPr>
          <p:cNvSpPr>
            <a:spLocks xmlns:a="http://schemas.openxmlformats.org/drawingml/2006/main" noGrp="1"/>
          </p:cNvSpPr>
          <p:nvPr/>
        </p:nvSpPr>
        <p:spPr>
          <a:xfrm xmlns:a="http://schemas.openxmlformats.org/drawingml/2006/main">
            <a:off x="666750" y="5334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UIUC RIPE · HYPERSPECTRAL ANALYSIS</a:t>
            </a:r>
          </a:p>
        </p:txBody>
      </p:sp>
      <p:sp>
        <p:nvSpPr>
          <p:cNvPr id="3" name="cover-title">
            <a:extLst xmlns:a="http://schemas.openxmlformats.org/drawingml/2006/main">
              <a:ext uri="{FF2B5EF4-FFF2-40B4-BE49-F238E27FC236}">
                <a16:creationId xmlns:a16="http://schemas.microsoft.com/office/drawing/2014/main" id="{98040738-4057-42C6-8D03-DFCA6F0903AC}"/>
              </a:ext>
            </a:extLst>
          </p:cNvPr>
          <p:cNvSpPr>
            <a:spLocks xmlns:a="http://schemas.openxmlformats.org/drawingml/2006/main" noGrp="1"/>
          </p:cNvSpPr>
          <p:nvPr/>
        </p:nvSpPr>
        <p:spPr>
          <a:xfrm xmlns:a="http://schemas.openxmlformats.org/drawingml/2006/main">
            <a:off x="666750" y="1695450"/>
            <a:ext cx="9906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400" b="1">
                <a:solidFill>
                  <a:srgbClr val="111111"/>
                </a:solidFill>
                <a:latin typeface="Malgun Gothic"/>
                <a:ea typeface="Malgun Gothic"/>
                <a:cs typeface="Malgun Gothic"/>
              </a:defRPr>
            </a:pPr>
            <a:r>
              <a:rPr sz="5400" b="1">
                <a:solidFill>
                  <a:srgbClr val="111111"/>
                </a:solidFill>
                <a:latin typeface="Malgun Gothic"/>
                <a:ea typeface="Malgun Gothic"/>
                <a:cs typeface="Malgun Gothic"/>
              </a:rPr>
              <a:t>현장 초분광 데이터를</a:t>
            </a:r>
          </a:p>
          <a:p xmlns:a="http://schemas.openxmlformats.org/drawingml/2006/main">
            <a:pPr algn="l">
              <a:buNone/>
              <a:defRPr sz="5400" b="1">
                <a:solidFill>
                  <a:srgbClr val="111111"/>
                </a:solidFill>
                <a:latin typeface="Malgun Gothic"/>
                <a:ea typeface="Malgun Gothic"/>
                <a:cs typeface="Malgun Gothic"/>
              </a:defRPr>
            </a:pPr>
            <a:r>
              <a:rPr sz="5400" b="1">
                <a:solidFill>
                  <a:srgbClr val="111111"/>
                </a:solidFill>
                <a:latin typeface="Malgun Gothic"/>
                <a:ea typeface="Malgun Gothic"/>
                <a:cs typeface="Malgun Gothic"/>
              </a:rPr>
              <a:t>연구 결과로 바꾸는 파이프라인</a:t>
            </a:r>
          </a:p>
        </p:txBody>
      </p:sp>
      <p:sp>
        <p:nvSpPr>
          <p:cNvPr id="4" name="cover-subtitle">
            <a:extLst xmlns:a="http://schemas.openxmlformats.org/drawingml/2006/main">
              <a:ext uri="{FF2B5EF4-FFF2-40B4-BE49-F238E27FC236}">
                <a16:creationId xmlns:a16="http://schemas.microsoft.com/office/drawing/2014/main" id="{D533B78A-4ED9-4579-BDF3-75A076BFC109}"/>
              </a:ext>
            </a:extLst>
          </p:cNvPr>
          <p:cNvSpPr>
            <a:spLocks xmlns:a="http://schemas.openxmlformats.org/drawingml/2006/main" noGrp="1"/>
          </p:cNvSpPr>
          <p:nvPr/>
        </p:nvSpPr>
        <p:spPr>
          <a:xfrm xmlns:a="http://schemas.openxmlformats.org/drawingml/2006/main">
            <a:off x="685800" y="4419600"/>
            <a:ext cx="981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0">
                <a:solidFill>
                  <a:srgbClr val="59616D"/>
                </a:solidFill>
                <a:latin typeface="Malgun Gothic"/>
                <a:ea typeface="Malgun Gothic"/>
                <a:cs typeface="Malgun Gothic"/>
              </a:defRPr>
            </a:pPr>
            <a:r>
              <a:rPr sz="2100" b="0">
                <a:solidFill>
                  <a:srgbClr val="59616D"/>
                </a:solidFill>
                <a:latin typeface="Malgun Gothic"/>
                <a:ea typeface="Malgun Gothic"/>
                <a:cs typeface="Malgun Gothic"/>
              </a:rPr>
              <a:t>CERES/BIL → 반사율 보정 → 클러스터링 → ROI 스펙트럼 → 자동 리포트</a:t>
            </a:r>
          </a:p>
        </p:txBody>
      </p:sp>
      <p:sp>
        <p:nvSpPr>
          <p:cNvPr id="5" name="">
            <a:extLst xmlns:a="http://schemas.openxmlformats.org/drawingml/2006/main">
              <a:ext uri="{FF2B5EF4-FFF2-40B4-BE49-F238E27FC236}">
                <a16:creationId xmlns:a16="http://schemas.microsoft.com/office/drawing/2014/main" id="{70335FE2-8EF8-48B7-802B-D3EC2E52D99C}"/>
              </a:ext>
            </a:extLst>
          </p:cNvPr>
          <p:cNvSpPr>
            <a:spLocks xmlns:a="http://schemas.openxmlformats.org/drawingml/2006/main" noGrp="1"/>
          </p:cNvSpPr>
          <p:nvPr/>
        </p:nvSpPr>
        <p:spPr>
          <a:xfrm xmlns:a="http://schemas.openxmlformats.org/drawingml/2006/main">
            <a:off x="685800" y="5543550"/>
            <a:ext cx="2381250" cy="7620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6" name="cover-footer">
            <a:extLst xmlns:a="http://schemas.openxmlformats.org/drawingml/2006/main">
              <a:ext uri="{FF2B5EF4-FFF2-40B4-BE49-F238E27FC236}">
                <a16:creationId xmlns:a16="http://schemas.microsoft.com/office/drawing/2014/main" id="{42AE9C73-98B0-4B3A-AEE0-57439BFADDF3}"/>
              </a:ext>
            </a:extLst>
          </p:cNvPr>
          <p:cNvSpPr>
            <a:spLocks xmlns:a="http://schemas.openxmlformats.org/drawingml/2006/main" noGrp="1"/>
          </p:cNvSpPr>
          <p:nvPr/>
        </p:nvSpPr>
        <p:spPr>
          <a:xfrm xmlns:a="http://schemas.openxmlformats.org/drawingml/2006/main">
            <a:off x="685800" y="58102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9616D"/>
                </a:solidFill>
                <a:latin typeface="Malgun Gothic"/>
                <a:ea typeface="Malgun Gothic"/>
                <a:cs typeface="Malgun Gothic"/>
              </a:defRPr>
            </a:pPr>
            <a:r>
              <a:rPr sz="1650" b="0">
                <a:solidFill>
                  <a:srgbClr val="59616D"/>
                </a:solidFill>
                <a:latin typeface="Malgun Gothic"/>
                <a:ea typeface="Malgun Gothic"/>
                <a:cs typeface="Malgun Gothic"/>
              </a:rPr>
              <a:t>Field-scale hyperspectral analysis workflow</a:t>
            </a:r>
          </a:p>
        </p:txBody>
      </p:sp>
    </p:spTree>
    <p:extLst>
      <p:ext uri="{BB962C8B-B14F-4D97-AF65-F5344CB8AC3E}">
        <p14:creationId xmlns:p14="http://schemas.microsoft.com/office/powerpoint/2010/main" val="11001296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9D923BB-22B0-4899-A749-7C7B38A90DA1}"/>
              </a:ext>
            </a:extLst>
          </p:cNvPr>
          <p:cNvSpPr>
            <a:spLocks xmlns:a="http://schemas.openxmlformats.org/drawingml/2006/main" noGrp="1"/>
          </p:cNvSpPr>
          <p:nvPr/>
        </p:nvSpPr>
        <p:spPr>
          <a:xfrm xmlns:a="http://schemas.openxmlformats.org/drawingml/2006/main">
            <a:off x="476250" y="1200150"/>
            <a:ext cx="1123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 name="simple-title">
            <a:extLst xmlns:a="http://schemas.openxmlformats.org/drawingml/2006/main">
              <a:ext uri="{FF2B5EF4-FFF2-40B4-BE49-F238E27FC236}">
                <a16:creationId xmlns:a16="http://schemas.microsoft.com/office/drawing/2014/main" id="{FD9BC115-1774-4F1D-AB0B-BCC9E9F420AE}"/>
              </a:ext>
            </a:extLst>
          </p:cNvPr>
          <p:cNvSpPr>
            <a:spLocks xmlns:a="http://schemas.openxmlformats.org/drawingml/2006/main" noGrp="1"/>
          </p:cNvSpPr>
          <p:nvPr/>
        </p:nvSpPr>
        <p:spPr>
          <a:xfrm xmlns:a="http://schemas.openxmlformats.org/drawingml/2006/main">
            <a:off x="476250" y="400050"/>
            <a:ext cx="1047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11111"/>
                </a:solidFill>
                <a:latin typeface="Malgun Gothic"/>
                <a:ea typeface="Malgun Gothic"/>
                <a:cs typeface="Malgun Gothic"/>
              </a:defRPr>
            </a:pPr>
            <a:r>
              <a:rPr sz="3600" b="1">
                <a:solidFill>
                  <a:srgbClr val="111111"/>
                </a:solidFill>
                <a:latin typeface="Malgun Gothic"/>
                <a:ea typeface="Malgun Gothic"/>
                <a:cs typeface="Malgun Gothic"/>
              </a:rPr>
              <a:t>데이터는 다섯 단계로 연구 결과가 된다</a:t>
            </a:r>
          </a:p>
        </p:txBody>
      </p:sp>
      <p:sp>
        <p:nvSpPr>
          <p:cNvPr id="3" name="simple-kicker">
            <a:extLst xmlns:a="http://schemas.openxmlformats.org/drawingml/2006/main">
              <a:ext uri="{FF2B5EF4-FFF2-40B4-BE49-F238E27FC236}">
                <a16:creationId xmlns:a16="http://schemas.microsoft.com/office/drawing/2014/main" id="{594B0863-B893-4607-A464-CC613AEA6468}"/>
              </a:ext>
            </a:extLst>
          </p:cNvPr>
          <p:cNvSpPr>
            <a:spLocks xmlns:a="http://schemas.openxmlformats.org/drawingml/2006/main" noGrp="1"/>
          </p:cNvSpPr>
          <p:nvPr/>
        </p:nvSpPr>
        <p:spPr>
          <a:xfrm xmlns:a="http://schemas.openxmlformats.org/drawingml/2006/main">
            <a:off x="476250" y="13906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9616D"/>
                </a:solidFill>
                <a:latin typeface="Malgun Gothic"/>
                <a:ea typeface="Malgun Gothic"/>
                <a:cs typeface="Malgun Gothic"/>
              </a:defRPr>
            </a:pPr>
            <a:r>
              <a:rPr sz="1650" b="0">
                <a:solidFill>
                  <a:srgbClr val="59616D"/>
                </a:solidFill>
                <a:latin typeface="Malgun Gothic"/>
                <a:ea typeface="Malgun Gothic"/>
                <a:cs typeface="Malgun Gothic"/>
              </a:rPr>
              <a:t>사용자가 기억해야 할 전체 흐름</a:t>
            </a:r>
          </a:p>
        </p:txBody>
      </p:sp>
      <p:sp>
        <p:nvSpPr>
          <p:cNvPr id="4" name="">
            <a:extLst xmlns:a="http://schemas.openxmlformats.org/drawingml/2006/main">
              <a:ext uri="{FF2B5EF4-FFF2-40B4-BE49-F238E27FC236}">
                <a16:creationId xmlns:a16="http://schemas.microsoft.com/office/drawing/2014/main" id="{CF25F2F6-A2C5-4F5E-BD69-39CD92AA2D78}"/>
              </a:ext>
            </a:extLst>
          </p:cNvPr>
          <p:cNvSpPr>
            <a:spLocks xmlns:a="http://schemas.openxmlformats.org/drawingml/2006/main" noGrp="1"/>
          </p:cNvSpPr>
          <p:nvPr/>
        </p:nvSpPr>
        <p:spPr>
          <a:xfrm xmlns:a="http://schemas.openxmlformats.org/drawingml/2006/main">
            <a:off x="23622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
            <a:extLst xmlns:a="http://schemas.openxmlformats.org/drawingml/2006/main">
              <a:ext uri="{FF2B5EF4-FFF2-40B4-BE49-F238E27FC236}">
                <a16:creationId xmlns:a16="http://schemas.microsoft.com/office/drawing/2014/main" id="{6B3C7F1E-A7C6-4523-AC7D-1CA1512ED4B8}"/>
              </a:ext>
            </a:extLst>
          </p:cNvPr>
          <p:cNvSpPr>
            <a:spLocks xmlns:a="http://schemas.openxmlformats.org/drawingml/2006/main" noGrp="1"/>
          </p:cNvSpPr>
          <p:nvPr/>
        </p:nvSpPr>
        <p:spPr>
          <a:xfrm xmlns:a="http://schemas.openxmlformats.org/drawingml/2006/main">
            <a:off x="46863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4687178D-B145-48F9-9F1A-5C8D6C7F75EE}"/>
              </a:ext>
            </a:extLst>
          </p:cNvPr>
          <p:cNvSpPr>
            <a:spLocks xmlns:a="http://schemas.openxmlformats.org/drawingml/2006/main" noGrp="1"/>
          </p:cNvSpPr>
          <p:nvPr/>
        </p:nvSpPr>
        <p:spPr>
          <a:xfrm xmlns:a="http://schemas.openxmlformats.org/drawingml/2006/main">
            <a:off x="70104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CE869D00-C7D4-40D2-831F-EF108A556C0E}"/>
              </a:ext>
            </a:extLst>
          </p:cNvPr>
          <p:cNvSpPr>
            <a:spLocks xmlns:a="http://schemas.openxmlformats.org/drawingml/2006/main" noGrp="1"/>
          </p:cNvSpPr>
          <p:nvPr/>
        </p:nvSpPr>
        <p:spPr>
          <a:xfrm xmlns:a="http://schemas.openxmlformats.org/drawingml/2006/main">
            <a:off x="93345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8" name="step-1-불러오기">
            <a:extLst xmlns:a="http://schemas.openxmlformats.org/drawingml/2006/main">
              <a:ext uri="{FF2B5EF4-FFF2-40B4-BE49-F238E27FC236}">
                <a16:creationId xmlns:a16="http://schemas.microsoft.com/office/drawing/2014/main" id="{83F53C90-BA8E-41D1-849A-8597E3AAC51F}"/>
              </a:ext>
            </a:extLst>
          </p:cNvPr>
          <p:cNvSpPr>
            <a:spLocks xmlns:a="http://schemas.openxmlformats.org/drawingml/2006/main" noGrp="1"/>
          </p:cNvSpPr>
          <p:nvPr/>
        </p:nvSpPr>
        <p:spPr>
          <a:xfrm xmlns:a="http://schemas.openxmlformats.org/drawingml/2006/main">
            <a:off x="4762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9" name="step-1-number">
            <a:extLst xmlns:a="http://schemas.openxmlformats.org/drawingml/2006/main">
              <a:ext uri="{FF2B5EF4-FFF2-40B4-BE49-F238E27FC236}">
                <a16:creationId xmlns:a16="http://schemas.microsoft.com/office/drawing/2014/main" id="{B0326CAE-9F72-4380-8234-C1EB51A7F0E6}"/>
              </a:ext>
            </a:extLst>
          </p:cNvPr>
          <p:cNvSpPr>
            <a:spLocks xmlns:a="http://schemas.openxmlformats.org/drawingml/2006/main" noGrp="1"/>
          </p:cNvSpPr>
          <p:nvPr/>
        </p:nvSpPr>
        <p:spPr>
          <a:xfrm xmlns:a="http://schemas.openxmlformats.org/drawingml/2006/main">
            <a:off x="6477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1</a:t>
            </a:r>
          </a:p>
        </p:txBody>
      </p:sp>
      <p:sp>
        <p:nvSpPr>
          <p:cNvPr id="10" name="step-1-title">
            <a:extLst xmlns:a="http://schemas.openxmlformats.org/drawingml/2006/main">
              <a:ext uri="{FF2B5EF4-FFF2-40B4-BE49-F238E27FC236}">
                <a16:creationId xmlns:a16="http://schemas.microsoft.com/office/drawing/2014/main" id="{BF932A94-EE8D-4108-9B67-8A303FD84271}"/>
              </a:ext>
            </a:extLst>
          </p:cNvPr>
          <p:cNvSpPr>
            <a:spLocks xmlns:a="http://schemas.openxmlformats.org/drawingml/2006/main" noGrp="1"/>
          </p:cNvSpPr>
          <p:nvPr/>
        </p:nvSpPr>
        <p:spPr>
          <a:xfrm xmlns:a="http://schemas.openxmlformats.org/drawingml/2006/main">
            <a:off x="6477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불러오기</a:t>
            </a:r>
          </a:p>
        </p:txBody>
      </p:sp>
      <p:sp>
        <p:nvSpPr>
          <p:cNvPr id="11" name="step-1-detail">
            <a:extLst xmlns:a="http://schemas.openxmlformats.org/drawingml/2006/main">
              <a:ext uri="{FF2B5EF4-FFF2-40B4-BE49-F238E27FC236}">
                <a16:creationId xmlns:a16="http://schemas.microsoft.com/office/drawing/2014/main" id="{22711278-0C89-4D62-8FB9-84DC97BDC01C}"/>
              </a:ext>
            </a:extLst>
          </p:cNvPr>
          <p:cNvSpPr>
            <a:spLocks xmlns:a="http://schemas.openxmlformats.org/drawingml/2006/main" noGrp="1"/>
          </p:cNvSpPr>
          <p:nvPr/>
        </p:nvSpPr>
        <p:spPr>
          <a:xfrm xmlns:a="http://schemas.openxmlformats.org/drawingml/2006/main">
            <a:off x="6477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CERES 내부 항목 선택</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또는 BIL/HDR 열기</a:t>
            </a:r>
          </a:p>
        </p:txBody>
      </p:sp>
      <p:sp>
        <p:nvSpPr>
          <p:cNvPr id="12" name="step-2-반사율 보정">
            <a:extLst xmlns:a="http://schemas.openxmlformats.org/drawingml/2006/main">
              <a:ext uri="{FF2B5EF4-FFF2-40B4-BE49-F238E27FC236}">
                <a16:creationId xmlns:a16="http://schemas.microsoft.com/office/drawing/2014/main" id="{66F463DE-3CEF-4F6D-BBE6-9022E7604A7E}"/>
              </a:ext>
            </a:extLst>
          </p:cNvPr>
          <p:cNvSpPr>
            <a:spLocks xmlns:a="http://schemas.openxmlformats.org/drawingml/2006/main" noGrp="1"/>
          </p:cNvSpPr>
          <p:nvPr/>
        </p:nvSpPr>
        <p:spPr>
          <a:xfrm xmlns:a="http://schemas.openxmlformats.org/drawingml/2006/main">
            <a:off x="28003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3" name="step-2-number">
            <a:extLst xmlns:a="http://schemas.openxmlformats.org/drawingml/2006/main">
              <a:ext uri="{FF2B5EF4-FFF2-40B4-BE49-F238E27FC236}">
                <a16:creationId xmlns:a16="http://schemas.microsoft.com/office/drawing/2014/main" id="{71B34E98-BB4E-4296-859F-AB965BBDD23E}"/>
              </a:ext>
            </a:extLst>
          </p:cNvPr>
          <p:cNvSpPr>
            <a:spLocks xmlns:a="http://schemas.openxmlformats.org/drawingml/2006/main" noGrp="1"/>
          </p:cNvSpPr>
          <p:nvPr/>
        </p:nvSpPr>
        <p:spPr>
          <a:xfrm xmlns:a="http://schemas.openxmlformats.org/drawingml/2006/main">
            <a:off x="29718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2</a:t>
            </a:r>
          </a:p>
        </p:txBody>
      </p:sp>
      <p:sp>
        <p:nvSpPr>
          <p:cNvPr id="14" name="step-2-title">
            <a:extLst xmlns:a="http://schemas.openxmlformats.org/drawingml/2006/main">
              <a:ext uri="{FF2B5EF4-FFF2-40B4-BE49-F238E27FC236}">
                <a16:creationId xmlns:a16="http://schemas.microsoft.com/office/drawing/2014/main" id="{AC67280E-856C-4A39-B8D7-C96641D5A026}"/>
              </a:ext>
            </a:extLst>
          </p:cNvPr>
          <p:cNvSpPr>
            <a:spLocks xmlns:a="http://schemas.openxmlformats.org/drawingml/2006/main" noGrp="1"/>
          </p:cNvSpPr>
          <p:nvPr/>
        </p:nvSpPr>
        <p:spPr>
          <a:xfrm xmlns:a="http://schemas.openxmlformats.org/drawingml/2006/main">
            <a:off x="29718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반사율 보정</a:t>
            </a:r>
          </a:p>
        </p:txBody>
      </p:sp>
      <p:sp>
        <p:nvSpPr>
          <p:cNvPr id="15" name="step-2-detail">
            <a:extLst xmlns:a="http://schemas.openxmlformats.org/drawingml/2006/main">
              <a:ext uri="{FF2B5EF4-FFF2-40B4-BE49-F238E27FC236}">
                <a16:creationId xmlns:a16="http://schemas.microsoft.com/office/drawing/2014/main" id="{D602A726-92AE-4A9A-A545-B66F0776F3B7}"/>
              </a:ext>
            </a:extLst>
          </p:cNvPr>
          <p:cNvSpPr>
            <a:spLocks xmlns:a="http://schemas.openxmlformats.org/drawingml/2006/main" noGrp="1"/>
          </p:cNvSpPr>
          <p:nvPr/>
        </p:nvSpPr>
        <p:spPr>
          <a:xfrm xmlns:a="http://schemas.openxmlformats.org/drawingml/2006/main">
            <a:off x="29718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White panel +</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Sensor Dark</a:t>
            </a:r>
          </a:p>
        </p:txBody>
      </p:sp>
      <p:sp>
        <p:nvSpPr>
          <p:cNvPr id="16" name="step-3-클러스터링">
            <a:extLst xmlns:a="http://schemas.openxmlformats.org/drawingml/2006/main">
              <a:ext uri="{FF2B5EF4-FFF2-40B4-BE49-F238E27FC236}">
                <a16:creationId xmlns:a16="http://schemas.microsoft.com/office/drawing/2014/main" id="{7ABA1C21-0E0F-45E7-A75D-E80B8265FA86}"/>
              </a:ext>
            </a:extLst>
          </p:cNvPr>
          <p:cNvSpPr>
            <a:spLocks xmlns:a="http://schemas.openxmlformats.org/drawingml/2006/main" noGrp="1"/>
          </p:cNvSpPr>
          <p:nvPr/>
        </p:nvSpPr>
        <p:spPr>
          <a:xfrm xmlns:a="http://schemas.openxmlformats.org/drawingml/2006/main">
            <a:off x="51244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step-3-number">
            <a:extLst xmlns:a="http://schemas.openxmlformats.org/drawingml/2006/main">
              <a:ext uri="{FF2B5EF4-FFF2-40B4-BE49-F238E27FC236}">
                <a16:creationId xmlns:a16="http://schemas.microsoft.com/office/drawing/2014/main" id="{9369B5AA-B5F1-4C8A-BEEF-5B5B3D9F0835}"/>
              </a:ext>
            </a:extLst>
          </p:cNvPr>
          <p:cNvSpPr>
            <a:spLocks xmlns:a="http://schemas.openxmlformats.org/drawingml/2006/main" noGrp="1"/>
          </p:cNvSpPr>
          <p:nvPr/>
        </p:nvSpPr>
        <p:spPr>
          <a:xfrm xmlns:a="http://schemas.openxmlformats.org/drawingml/2006/main">
            <a:off x="52959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3</a:t>
            </a:r>
          </a:p>
        </p:txBody>
      </p:sp>
      <p:sp>
        <p:nvSpPr>
          <p:cNvPr id="18" name="step-3-title">
            <a:extLst xmlns:a="http://schemas.openxmlformats.org/drawingml/2006/main">
              <a:ext uri="{FF2B5EF4-FFF2-40B4-BE49-F238E27FC236}">
                <a16:creationId xmlns:a16="http://schemas.microsoft.com/office/drawing/2014/main" id="{91DEB2AB-9914-4EFB-A292-2517E26A5E69}"/>
              </a:ext>
            </a:extLst>
          </p:cNvPr>
          <p:cNvSpPr>
            <a:spLocks xmlns:a="http://schemas.openxmlformats.org/drawingml/2006/main" noGrp="1"/>
          </p:cNvSpPr>
          <p:nvPr/>
        </p:nvSpPr>
        <p:spPr>
          <a:xfrm xmlns:a="http://schemas.openxmlformats.org/drawingml/2006/main">
            <a:off x="52959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클러스터링</a:t>
            </a:r>
          </a:p>
        </p:txBody>
      </p:sp>
      <p:sp>
        <p:nvSpPr>
          <p:cNvPr id="19" name="step-3-detail">
            <a:extLst xmlns:a="http://schemas.openxmlformats.org/drawingml/2006/main">
              <a:ext uri="{FF2B5EF4-FFF2-40B4-BE49-F238E27FC236}">
                <a16:creationId xmlns:a16="http://schemas.microsoft.com/office/drawing/2014/main" id="{B4F6F1FF-3B86-44E7-A12F-CAEECFAE8954}"/>
              </a:ext>
            </a:extLst>
          </p:cNvPr>
          <p:cNvSpPr>
            <a:spLocks xmlns:a="http://schemas.openxmlformats.org/drawingml/2006/main" noGrp="1"/>
          </p:cNvSpPr>
          <p:nvPr/>
        </p:nvSpPr>
        <p:spPr>
          <a:xfrm xmlns:a="http://schemas.openxmlformats.org/drawingml/2006/main">
            <a:off x="52959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잎 · 토양 · 그림자</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전체 영상 분류</a:t>
            </a:r>
          </a:p>
        </p:txBody>
      </p:sp>
      <p:sp>
        <p:nvSpPr>
          <p:cNvPr id="20" name="step-4-확인과 ROI">
            <a:extLst xmlns:a="http://schemas.openxmlformats.org/drawingml/2006/main">
              <a:ext uri="{FF2B5EF4-FFF2-40B4-BE49-F238E27FC236}">
                <a16:creationId xmlns:a16="http://schemas.microsoft.com/office/drawing/2014/main" id="{7E2BCA6C-B3AF-4C8F-80CE-DC391FD3B19D}"/>
              </a:ext>
            </a:extLst>
          </p:cNvPr>
          <p:cNvSpPr>
            <a:spLocks xmlns:a="http://schemas.openxmlformats.org/drawingml/2006/main" noGrp="1"/>
          </p:cNvSpPr>
          <p:nvPr/>
        </p:nvSpPr>
        <p:spPr>
          <a:xfrm xmlns:a="http://schemas.openxmlformats.org/drawingml/2006/main">
            <a:off x="74485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1" name="step-4-number">
            <a:extLst xmlns:a="http://schemas.openxmlformats.org/drawingml/2006/main">
              <a:ext uri="{FF2B5EF4-FFF2-40B4-BE49-F238E27FC236}">
                <a16:creationId xmlns:a16="http://schemas.microsoft.com/office/drawing/2014/main" id="{221A6C94-F05C-442C-A5BC-00CD36B42635}"/>
              </a:ext>
            </a:extLst>
          </p:cNvPr>
          <p:cNvSpPr>
            <a:spLocks xmlns:a="http://schemas.openxmlformats.org/drawingml/2006/main" noGrp="1"/>
          </p:cNvSpPr>
          <p:nvPr/>
        </p:nvSpPr>
        <p:spPr>
          <a:xfrm xmlns:a="http://schemas.openxmlformats.org/drawingml/2006/main">
            <a:off x="76200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4</a:t>
            </a:r>
          </a:p>
        </p:txBody>
      </p:sp>
      <p:sp>
        <p:nvSpPr>
          <p:cNvPr id="22" name="step-4-title">
            <a:extLst xmlns:a="http://schemas.openxmlformats.org/drawingml/2006/main">
              <a:ext uri="{FF2B5EF4-FFF2-40B4-BE49-F238E27FC236}">
                <a16:creationId xmlns:a16="http://schemas.microsoft.com/office/drawing/2014/main" id="{73CF0BF6-421A-49C1-ABCB-39079181E025}"/>
              </a:ext>
            </a:extLst>
          </p:cNvPr>
          <p:cNvSpPr>
            <a:spLocks xmlns:a="http://schemas.openxmlformats.org/drawingml/2006/main" noGrp="1"/>
          </p:cNvSpPr>
          <p:nvPr/>
        </p:nvSpPr>
        <p:spPr>
          <a:xfrm xmlns:a="http://schemas.openxmlformats.org/drawingml/2006/main">
            <a:off x="76200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확인과 ROI</a:t>
            </a:r>
          </a:p>
        </p:txBody>
      </p:sp>
      <p:sp>
        <p:nvSpPr>
          <p:cNvPr id="23" name="step-4-detail">
            <a:extLst xmlns:a="http://schemas.openxmlformats.org/drawingml/2006/main">
              <a:ext uri="{FF2B5EF4-FFF2-40B4-BE49-F238E27FC236}">
                <a16:creationId xmlns:a16="http://schemas.microsoft.com/office/drawing/2014/main" id="{DA9491F2-3443-4228-BA8E-C76142147EEE}"/>
              </a:ext>
            </a:extLst>
          </p:cNvPr>
          <p:cNvSpPr>
            <a:spLocks xmlns:a="http://schemas.openxmlformats.org/drawingml/2006/main" noGrp="1"/>
          </p:cNvSpPr>
          <p:nvPr/>
        </p:nvSpPr>
        <p:spPr>
          <a:xfrm xmlns:a="http://schemas.openxmlformats.org/drawingml/2006/main">
            <a:off x="76200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색상 오버레이 확인</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필요한 구역 지정</a:t>
            </a:r>
          </a:p>
        </p:txBody>
      </p:sp>
      <p:sp>
        <p:nvSpPr>
          <p:cNvPr id="24" name="step-5-저장과 공유">
            <a:extLst xmlns:a="http://schemas.openxmlformats.org/drawingml/2006/main">
              <a:ext uri="{FF2B5EF4-FFF2-40B4-BE49-F238E27FC236}">
                <a16:creationId xmlns:a16="http://schemas.microsoft.com/office/drawing/2014/main" id="{97B4692E-1121-45F4-AD15-E367C95EC5E0}"/>
              </a:ext>
            </a:extLst>
          </p:cNvPr>
          <p:cNvSpPr>
            <a:spLocks xmlns:a="http://schemas.openxmlformats.org/drawingml/2006/main" noGrp="1"/>
          </p:cNvSpPr>
          <p:nvPr/>
        </p:nvSpPr>
        <p:spPr>
          <a:xfrm xmlns:a="http://schemas.openxmlformats.org/drawingml/2006/main">
            <a:off x="9772650" y="1952625"/>
            <a:ext cx="1885950" cy="3143250"/>
          </a:xfrm>
          <a:prstGeom xmlns:a="http://schemas.openxmlformats.org/drawingml/2006/main" prst="rect">
            <a:avLst/>
          </a:prstGeom>
          <a:solidFill xmlns:a="http://schemas.openxmlformats.org/drawingml/2006/main">
            <a:srgbClr val="DDF3FC"/>
          </a:solidFill>
          <a:ln xmlns:a="http://schemas.openxmlformats.org/drawingml/2006/main" w="9525">
            <a:solidFill>
              <a:srgbClr val="B8BCC4"/>
            </a:solidFill>
            <a:prstDash val="solid"/>
          </a:ln>
        </p:spPr>
      </p:sp>
      <p:sp>
        <p:nvSpPr>
          <p:cNvPr id="25" name="step-5-number">
            <a:extLst xmlns:a="http://schemas.openxmlformats.org/drawingml/2006/main">
              <a:ext uri="{FF2B5EF4-FFF2-40B4-BE49-F238E27FC236}">
                <a16:creationId xmlns:a16="http://schemas.microsoft.com/office/drawing/2014/main" id="{08C5724E-3A2F-4359-9D46-8A8D00B7A8AA}"/>
              </a:ext>
            </a:extLst>
          </p:cNvPr>
          <p:cNvSpPr>
            <a:spLocks xmlns:a="http://schemas.openxmlformats.org/drawingml/2006/main" noGrp="1"/>
          </p:cNvSpPr>
          <p:nvPr/>
        </p:nvSpPr>
        <p:spPr>
          <a:xfrm xmlns:a="http://schemas.openxmlformats.org/drawingml/2006/main">
            <a:off x="99441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5</a:t>
            </a:r>
          </a:p>
        </p:txBody>
      </p:sp>
      <p:sp>
        <p:nvSpPr>
          <p:cNvPr id="26" name="step-5-title">
            <a:extLst xmlns:a="http://schemas.openxmlformats.org/drawingml/2006/main">
              <a:ext uri="{FF2B5EF4-FFF2-40B4-BE49-F238E27FC236}">
                <a16:creationId xmlns:a16="http://schemas.microsoft.com/office/drawing/2014/main" id="{E1F3A23C-76D9-4FA6-9D47-8C1FE9D36FFA}"/>
              </a:ext>
            </a:extLst>
          </p:cNvPr>
          <p:cNvSpPr>
            <a:spLocks xmlns:a="http://schemas.openxmlformats.org/drawingml/2006/main" noGrp="1"/>
          </p:cNvSpPr>
          <p:nvPr/>
        </p:nvSpPr>
        <p:spPr>
          <a:xfrm xmlns:a="http://schemas.openxmlformats.org/drawingml/2006/main">
            <a:off x="99441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저장과 공유</a:t>
            </a:r>
          </a:p>
        </p:txBody>
      </p:sp>
      <p:sp>
        <p:nvSpPr>
          <p:cNvPr id="27" name="step-5-detail">
            <a:extLst xmlns:a="http://schemas.openxmlformats.org/drawingml/2006/main">
              <a:ext uri="{FF2B5EF4-FFF2-40B4-BE49-F238E27FC236}">
                <a16:creationId xmlns:a16="http://schemas.microsoft.com/office/drawing/2014/main" id="{41FE4C33-747E-4EBA-BA7B-F35D751DC53D}"/>
              </a:ext>
            </a:extLst>
          </p:cNvPr>
          <p:cNvSpPr>
            <a:spLocks xmlns:a="http://schemas.openxmlformats.org/drawingml/2006/main" noGrp="1"/>
          </p:cNvSpPr>
          <p:nvPr/>
        </p:nvSpPr>
        <p:spPr>
          <a:xfrm xmlns:a="http://schemas.openxmlformats.org/drawingml/2006/main">
            <a:off x="99441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HTML · Excel · CSV</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이미지 · 일일 요약</a:t>
            </a:r>
          </a:p>
        </p:txBody>
      </p:sp>
      <p:sp>
        <p:nvSpPr>
          <p:cNvPr id="28" name="">
            <a:extLst xmlns:a="http://schemas.openxmlformats.org/drawingml/2006/main">
              <a:ext uri="{FF2B5EF4-FFF2-40B4-BE49-F238E27FC236}">
                <a16:creationId xmlns:a16="http://schemas.microsoft.com/office/drawing/2014/main" id="{F9E09A83-A05C-410F-BBB2-5D3E66A05CF4}"/>
              </a:ext>
            </a:extLst>
          </p:cNvPr>
          <p:cNvSpPr>
            <a:spLocks xmlns:a="http://schemas.openxmlformats.org/drawingml/2006/main" noGrp="1"/>
          </p:cNvSpPr>
          <p:nvPr/>
        </p:nvSpPr>
        <p:spPr>
          <a:xfrm xmlns:a="http://schemas.openxmlformats.org/drawingml/2006/main">
            <a:off x="476250" y="5476875"/>
            <a:ext cx="11239500" cy="6858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29" name="simple-note-left">
            <a:extLst xmlns:a="http://schemas.openxmlformats.org/drawingml/2006/main">
              <a:ext uri="{FF2B5EF4-FFF2-40B4-BE49-F238E27FC236}">
                <a16:creationId xmlns:a16="http://schemas.microsoft.com/office/drawing/2014/main" id="{8EC85B66-57E6-424B-A19E-5CB8EFBCCD6D}"/>
              </a:ext>
            </a:extLst>
          </p:cNvPr>
          <p:cNvSpPr>
            <a:spLocks xmlns:a="http://schemas.openxmlformats.org/drawingml/2006/main" noGrp="1"/>
          </p:cNvSpPr>
          <p:nvPr/>
        </p:nvSpPr>
        <p:spPr>
          <a:xfrm xmlns:a="http://schemas.openxmlformats.org/drawingml/2006/main">
            <a:off x="704850" y="56578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클러스터링은 정규화된 Raw DN이 기본값</a:t>
            </a:r>
          </a:p>
        </p:txBody>
      </p:sp>
      <p:sp>
        <p:nvSpPr>
          <p:cNvPr id="30" name="simple-note-right">
            <a:extLst xmlns:a="http://schemas.openxmlformats.org/drawingml/2006/main">
              <a:ext uri="{FF2B5EF4-FFF2-40B4-BE49-F238E27FC236}">
                <a16:creationId xmlns:a16="http://schemas.microsoft.com/office/drawing/2014/main" id="{B278C2C1-D973-42B8-BB9C-49863F650877}"/>
              </a:ext>
            </a:extLst>
          </p:cNvPr>
          <p:cNvSpPr>
            <a:spLocks xmlns:a="http://schemas.openxmlformats.org/drawingml/2006/main" noGrp="1"/>
          </p:cNvSpPr>
          <p:nvPr/>
        </p:nvSpPr>
        <p:spPr>
          <a:xfrm xmlns:a="http://schemas.openxmlformats.org/drawingml/2006/main">
            <a:off x="5886450" y="565785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최종 스펙트럼은 QC를 통과한 보정 반사율을 함께 저장</a:t>
            </a:r>
          </a:p>
        </p:txBody>
      </p:sp>
      <p:sp>
        <p:nvSpPr>
          <p:cNvPr id="31" name="slide-2-number">
            <a:extLst xmlns:a="http://schemas.openxmlformats.org/drawingml/2006/main">
              <a:ext uri="{FF2B5EF4-FFF2-40B4-BE49-F238E27FC236}">
                <a16:creationId xmlns:a16="http://schemas.microsoft.com/office/drawing/2014/main" id="{A1C488C9-1D7C-42C1-89EB-6549D32B2EAC}"/>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200" b="0">
                <a:solidFill>
                  <a:srgbClr val="59616D"/>
                </a:solidFill>
                <a:latin typeface="Malgun Gothic"/>
                <a:ea typeface="Malgun Gothic"/>
                <a:cs typeface="Malgun Gothic"/>
              </a:defRPr>
            </a:pPr>
            <a:r>
              <a:rPr sz="1200" b="0">
                <a:solidFill>
                  <a:srgbClr val="59616D"/>
                </a:solidFill>
                <a:latin typeface="Malgun Gothic"/>
                <a:ea typeface="Malgun Gothic"/>
                <a:cs typeface="Malgun Gothic"/>
              </a:rPr>
              <a:t>02</a:t>
            </a:r>
          </a:p>
        </p:txBody>
      </p:sp>
    </p:spTree>
    <p:extLst>
      <p:ext uri="{BB962C8B-B14F-4D97-AF65-F5344CB8AC3E}">
        <p14:creationId xmlns:p14="http://schemas.microsoft.com/office/powerpoint/2010/main" val="14199498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717FCA5-019E-4931-8E58-342F16A16A48}"/>
              </a:ext>
            </a:extLst>
          </p:cNvPr>
          <p:cNvSpPr>
            <a:spLocks xmlns:a="http://schemas.openxmlformats.org/drawingml/2006/main" noGrp="1"/>
          </p:cNvSpPr>
          <p:nvPr/>
        </p:nvSpPr>
        <p:spPr>
          <a:xfrm xmlns:a="http://schemas.openxmlformats.org/drawingml/2006/main">
            <a:off x="476250" y="1200150"/>
            <a:ext cx="1123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 name="detail-title">
            <a:extLst xmlns:a="http://schemas.openxmlformats.org/drawingml/2006/main">
              <a:ext uri="{FF2B5EF4-FFF2-40B4-BE49-F238E27FC236}">
                <a16:creationId xmlns:a16="http://schemas.microsoft.com/office/drawing/2014/main" id="{0190F782-A8C1-4A72-93FC-076A5BD67756}"/>
              </a:ext>
            </a:extLst>
          </p:cNvPr>
          <p:cNvSpPr>
            <a:spLocks xmlns:a="http://schemas.openxmlformats.org/drawingml/2006/main" noGrp="1"/>
          </p:cNvSpPr>
          <p:nvPr/>
        </p:nvSpPr>
        <p:spPr>
          <a:xfrm xmlns:a="http://schemas.openxmlformats.org/drawingml/2006/main">
            <a:off x="476250" y="40005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11111"/>
                </a:solidFill>
                <a:latin typeface="Malgun Gothic"/>
                <a:ea typeface="Malgun Gothic"/>
                <a:cs typeface="Malgun Gothic"/>
              </a:defRPr>
            </a:pPr>
            <a:r>
              <a:rPr sz="3600" b="1">
                <a:solidFill>
                  <a:srgbClr val="111111"/>
                </a:solidFill>
                <a:latin typeface="Malgun Gothic"/>
                <a:ea typeface="Malgun Gothic"/>
                <a:cs typeface="Malgun Gothic"/>
              </a:rPr>
              <a:t>보정은 검증하고, 실패한 ROI만 다시 분석한다</a:t>
            </a:r>
          </a:p>
        </p:txBody>
      </p:sp>
      <p:sp>
        <p:nvSpPr>
          <p:cNvPr id="3" name="">
            <a:extLst xmlns:a="http://schemas.openxmlformats.org/drawingml/2006/main">
              <a:ext uri="{FF2B5EF4-FFF2-40B4-BE49-F238E27FC236}">
                <a16:creationId xmlns:a16="http://schemas.microsoft.com/office/drawing/2014/main" id="{8525A185-C7AD-4830-BA11-C8901D3DB56F}"/>
              </a:ext>
            </a:extLst>
          </p:cNvPr>
          <p:cNvSpPr>
            <a:spLocks xmlns:a="http://schemas.openxmlformats.org/drawingml/2006/main" noGrp="1"/>
          </p:cNvSpPr>
          <p:nvPr/>
        </p:nvSpPr>
        <p:spPr>
          <a:xfrm xmlns:a="http://schemas.openxmlformats.org/drawingml/2006/main">
            <a:off x="3943350" y="3571875"/>
            <a:ext cx="3619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4" name="">
            <a:extLst xmlns:a="http://schemas.openxmlformats.org/drawingml/2006/main">
              <a:ext uri="{FF2B5EF4-FFF2-40B4-BE49-F238E27FC236}">
                <a16:creationId xmlns:a16="http://schemas.microsoft.com/office/drawing/2014/main" id="{C5F6ED0C-439D-4F6A-AF4E-690D1DD781FA}"/>
              </a:ext>
            </a:extLst>
          </p:cNvPr>
          <p:cNvSpPr>
            <a:spLocks xmlns:a="http://schemas.openxmlformats.org/drawingml/2006/main" noGrp="1"/>
          </p:cNvSpPr>
          <p:nvPr/>
        </p:nvSpPr>
        <p:spPr>
          <a:xfrm xmlns:a="http://schemas.openxmlformats.org/drawingml/2006/main">
            <a:off x="7877175" y="3571875"/>
            <a:ext cx="3619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lane-background-1">
            <a:extLst xmlns:a="http://schemas.openxmlformats.org/drawingml/2006/main">
              <a:ext uri="{FF2B5EF4-FFF2-40B4-BE49-F238E27FC236}">
                <a16:creationId xmlns:a16="http://schemas.microsoft.com/office/drawing/2014/main" id="{06D7A43F-ADBB-4C3D-BA2F-ACFF63DB3B69}"/>
              </a:ext>
            </a:extLst>
          </p:cNvPr>
          <p:cNvSpPr>
            <a:spLocks xmlns:a="http://schemas.openxmlformats.org/drawingml/2006/main" noGrp="1"/>
          </p:cNvSpPr>
          <p:nvPr/>
        </p:nvSpPr>
        <p:spPr>
          <a:xfrm xmlns:a="http://schemas.openxmlformats.org/drawingml/2006/main">
            <a:off x="476250" y="1428750"/>
            <a:ext cx="3371850" cy="42100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 name="lane-heading-1">
            <a:extLst xmlns:a="http://schemas.openxmlformats.org/drawingml/2006/main">
              <a:ext uri="{FF2B5EF4-FFF2-40B4-BE49-F238E27FC236}">
                <a16:creationId xmlns:a16="http://schemas.microsoft.com/office/drawing/2014/main" id="{A7E5B57F-17A1-4D93-BA6C-534A4E5EE42A}"/>
              </a:ext>
            </a:extLst>
          </p:cNvPr>
          <p:cNvSpPr>
            <a:spLocks xmlns:a="http://schemas.openxmlformats.org/drawingml/2006/main" noGrp="1"/>
          </p:cNvSpPr>
          <p:nvPr/>
        </p:nvSpPr>
        <p:spPr>
          <a:xfrm xmlns:a="http://schemas.openxmlformats.org/drawingml/2006/main">
            <a:off x="666750"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59616D"/>
                </a:solidFill>
                <a:latin typeface="Malgun Gothic"/>
                <a:ea typeface="Malgun Gothic"/>
                <a:cs typeface="Malgun Gothic"/>
              </a:defRPr>
            </a:pPr>
            <a:r>
              <a:rPr sz="1650" b="1">
                <a:solidFill>
                  <a:srgbClr val="59616D"/>
                </a:solidFill>
                <a:latin typeface="Malgun Gothic"/>
                <a:ea typeface="Malgun Gothic"/>
                <a:cs typeface="Malgun Gothic"/>
              </a:rPr>
              <a:t>1 · INPUT &amp; CALIBRATION</a:t>
            </a:r>
          </a:p>
        </p:txBody>
      </p:sp>
      <p:sp>
        <p:nvSpPr>
          <p:cNvPr id="7" name="lane-background-2">
            <a:extLst xmlns:a="http://schemas.openxmlformats.org/drawingml/2006/main">
              <a:ext uri="{FF2B5EF4-FFF2-40B4-BE49-F238E27FC236}">
                <a16:creationId xmlns:a16="http://schemas.microsoft.com/office/drawing/2014/main" id="{53F97D3B-DE09-404C-A244-50DED14C842A}"/>
              </a:ext>
            </a:extLst>
          </p:cNvPr>
          <p:cNvSpPr>
            <a:spLocks xmlns:a="http://schemas.openxmlformats.org/drawingml/2006/main" noGrp="1"/>
          </p:cNvSpPr>
          <p:nvPr/>
        </p:nvSpPr>
        <p:spPr>
          <a:xfrm xmlns:a="http://schemas.openxmlformats.org/drawingml/2006/main">
            <a:off x="4410075" y="1428750"/>
            <a:ext cx="3371850" cy="42100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 name="lane-heading-2">
            <a:extLst xmlns:a="http://schemas.openxmlformats.org/drawingml/2006/main">
              <a:ext uri="{FF2B5EF4-FFF2-40B4-BE49-F238E27FC236}">
                <a16:creationId xmlns:a16="http://schemas.microsoft.com/office/drawing/2014/main" id="{9DD06A48-ECBA-49B7-97E5-30F323A530A5}"/>
              </a:ext>
            </a:extLst>
          </p:cNvPr>
          <p:cNvSpPr>
            <a:spLocks xmlns:a="http://schemas.openxmlformats.org/drawingml/2006/main" noGrp="1"/>
          </p:cNvSpPr>
          <p:nvPr/>
        </p:nvSpPr>
        <p:spPr>
          <a:xfrm xmlns:a="http://schemas.openxmlformats.org/drawingml/2006/main">
            <a:off x="4600575"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59616D"/>
                </a:solidFill>
                <a:latin typeface="Malgun Gothic"/>
                <a:ea typeface="Malgun Gothic"/>
                <a:cs typeface="Malgun Gothic"/>
              </a:defRPr>
            </a:pPr>
            <a:r>
              <a:rPr sz="1650" b="1">
                <a:solidFill>
                  <a:srgbClr val="59616D"/>
                </a:solidFill>
                <a:latin typeface="Malgun Gothic"/>
                <a:ea typeface="Malgun Gothic"/>
                <a:cs typeface="Malgun Gothic"/>
              </a:rPr>
              <a:t>2 · GLOBAL ANALYSIS</a:t>
            </a:r>
          </a:p>
        </p:txBody>
      </p:sp>
      <p:sp>
        <p:nvSpPr>
          <p:cNvPr id="9" name="lane-background-3">
            <a:extLst xmlns:a="http://schemas.openxmlformats.org/drawingml/2006/main">
              <a:ext uri="{FF2B5EF4-FFF2-40B4-BE49-F238E27FC236}">
                <a16:creationId xmlns:a16="http://schemas.microsoft.com/office/drawing/2014/main" id="{E17C8CCC-453D-4874-AA16-19B10477E905}"/>
              </a:ext>
            </a:extLst>
          </p:cNvPr>
          <p:cNvSpPr>
            <a:spLocks xmlns:a="http://schemas.openxmlformats.org/drawingml/2006/main" noGrp="1"/>
          </p:cNvSpPr>
          <p:nvPr/>
        </p:nvSpPr>
        <p:spPr>
          <a:xfrm xmlns:a="http://schemas.openxmlformats.org/drawingml/2006/main">
            <a:off x="8343900" y="1428750"/>
            <a:ext cx="3371850" cy="4210050"/>
          </a:xfrm>
          <a:prstGeom xmlns:a="http://schemas.openxmlformats.org/drawingml/2006/main" prst="rect">
            <a:avLst/>
          </a:prstGeom>
          <a:solidFill xmlns:a="http://schemas.openxmlformats.org/drawingml/2006/main">
            <a:srgbClr val="F7FBFD"/>
          </a:solidFill>
          <a:ln xmlns:a="http://schemas.openxmlformats.org/drawingml/2006/main" w="9525">
            <a:solidFill>
              <a:srgbClr val="B8BCC4"/>
            </a:solidFill>
            <a:prstDash val="solid"/>
          </a:ln>
        </p:spPr>
      </p:sp>
      <p:sp>
        <p:nvSpPr>
          <p:cNvPr id="10" name="lane-heading-3">
            <a:extLst xmlns:a="http://schemas.openxmlformats.org/drawingml/2006/main">
              <a:ext uri="{FF2B5EF4-FFF2-40B4-BE49-F238E27FC236}">
                <a16:creationId xmlns:a16="http://schemas.microsoft.com/office/drawing/2014/main" id="{3DC34D98-F141-45E4-AA3C-B168FE27F4A0}"/>
              </a:ext>
            </a:extLst>
          </p:cNvPr>
          <p:cNvSpPr>
            <a:spLocks xmlns:a="http://schemas.openxmlformats.org/drawingml/2006/main" noGrp="1"/>
          </p:cNvSpPr>
          <p:nvPr/>
        </p:nvSpPr>
        <p:spPr>
          <a:xfrm xmlns:a="http://schemas.openxmlformats.org/drawingml/2006/main">
            <a:off x="8534400"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3 · ROI &amp; REPORT</a:t>
            </a:r>
          </a:p>
        </p:txBody>
      </p:sp>
      <p:sp>
        <p:nvSpPr>
          <p:cNvPr id="11" name="">
            <a:extLst xmlns:a="http://schemas.openxmlformats.org/drawingml/2006/main">
              <a:ext uri="{FF2B5EF4-FFF2-40B4-BE49-F238E27FC236}">
                <a16:creationId xmlns:a16="http://schemas.microsoft.com/office/drawing/2014/main" id="{530D1884-D9B9-41BE-AB0A-4892507779FC}"/>
              </a:ext>
            </a:extLst>
          </p:cNvPr>
          <p:cNvSpPr>
            <a:spLocks xmlns:a="http://schemas.openxmlformats.org/drawingml/2006/main" noGrp="1"/>
          </p:cNvSpPr>
          <p:nvPr/>
        </p:nvSpPr>
        <p:spPr>
          <a:xfrm xmlns:a="http://schemas.openxmlformats.org/drawingml/2006/main">
            <a:off x="2047875"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2" name="">
            <a:extLst xmlns:a="http://schemas.openxmlformats.org/drawingml/2006/main">
              <a:ext uri="{FF2B5EF4-FFF2-40B4-BE49-F238E27FC236}">
                <a16:creationId xmlns:a16="http://schemas.microsoft.com/office/drawing/2014/main" id="{397FA6D0-55CB-41D3-8D5B-B2313A1C5AE0}"/>
              </a:ext>
            </a:extLst>
          </p:cNvPr>
          <p:cNvSpPr>
            <a:spLocks xmlns:a="http://schemas.openxmlformats.org/drawingml/2006/main" noGrp="1"/>
          </p:cNvSpPr>
          <p:nvPr/>
        </p:nvSpPr>
        <p:spPr>
          <a:xfrm xmlns:a="http://schemas.openxmlformats.org/drawingml/2006/main">
            <a:off x="2047875"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3" name="">
            <a:extLst xmlns:a="http://schemas.openxmlformats.org/drawingml/2006/main">
              <a:ext uri="{FF2B5EF4-FFF2-40B4-BE49-F238E27FC236}">
                <a16:creationId xmlns:a16="http://schemas.microsoft.com/office/drawing/2014/main" id="{549E2858-2C71-4D11-8B3E-9DA17D713B2B}"/>
              </a:ext>
            </a:extLst>
          </p:cNvPr>
          <p:cNvSpPr>
            <a:spLocks xmlns:a="http://schemas.openxmlformats.org/drawingml/2006/main" noGrp="1"/>
          </p:cNvSpPr>
          <p:nvPr/>
        </p:nvSpPr>
        <p:spPr>
          <a:xfrm xmlns:a="http://schemas.openxmlformats.org/drawingml/2006/main">
            <a:off x="5981700"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EA07A9A8-AA01-4281-8C41-8FDF2FBF59DA}"/>
              </a:ext>
            </a:extLst>
          </p:cNvPr>
          <p:cNvSpPr>
            <a:spLocks xmlns:a="http://schemas.openxmlformats.org/drawingml/2006/main" noGrp="1"/>
          </p:cNvSpPr>
          <p:nvPr/>
        </p:nvSpPr>
        <p:spPr>
          <a:xfrm xmlns:a="http://schemas.openxmlformats.org/drawingml/2006/main">
            <a:off x="5981700"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5" name="">
            <a:extLst xmlns:a="http://schemas.openxmlformats.org/drawingml/2006/main">
              <a:ext uri="{FF2B5EF4-FFF2-40B4-BE49-F238E27FC236}">
                <a16:creationId xmlns:a16="http://schemas.microsoft.com/office/drawing/2014/main" id="{D9AF32F5-E257-4E5B-AE35-539ECD76EDAA}"/>
              </a:ext>
            </a:extLst>
          </p:cNvPr>
          <p:cNvSpPr>
            <a:spLocks xmlns:a="http://schemas.openxmlformats.org/drawingml/2006/main" noGrp="1"/>
          </p:cNvSpPr>
          <p:nvPr/>
        </p:nvSpPr>
        <p:spPr>
          <a:xfrm xmlns:a="http://schemas.openxmlformats.org/drawingml/2006/main">
            <a:off x="9915525"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1B5C95EB-1762-49FF-BD84-EE8B50432822}"/>
              </a:ext>
            </a:extLst>
          </p:cNvPr>
          <p:cNvSpPr>
            <a:spLocks xmlns:a="http://schemas.openxmlformats.org/drawingml/2006/main" noGrp="1"/>
          </p:cNvSpPr>
          <p:nvPr/>
        </p:nvSpPr>
        <p:spPr>
          <a:xfrm xmlns:a="http://schemas.openxmlformats.org/drawingml/2006/main">
            <a:off x="9915525"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7" name="lane-데이터 선택">
            <a:extLst xmlns:a="http://schemas.openxmlformats.org/drawingml/2006/main">
              <a:ext uri="{FF2B5EF4-FFF2-40B4-BE49-F238E27FC236}">
                <a16:creationId xmlns:a16="http://schemas.microsoft.com/office/drawing/2014/main" id="{DFC5950E-F649-4DCD-BBB3-B947653B4DEE}"/>
              </a:ext>
            </a:extLst>
          </p:cNvPr>
          <p:cNvSpPr>
            <a:spLocks xmlns:a="http://schemas.openxmlformats.org/drawingml/2006/main" noGrp="1"/>
          </p:cNvSpPr>
          <p:nvPr/>
        </p:nvSpPr>
        <p:spPr>
          <a:xfrm xmlns:a="http://schemas.openxmlformats.org/drawingml/2006/main">
            <a:off x="685800"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8" name="lane-데이터 선택-title">
            <a:extLst xmlns:a="http://schemas.openxmlformats.org/drawingml/2006/main">
              <a:ext uri="{FF2B5EF4-FFF2-40B4-BE49-F238E27FC236}">
                <a16:creationId xmlns:a16="http://schemas.microsoft.com/office/drawing/2014/main" id="{F209E83E-38B7-476F-A9E1-709F903C7D99}"/>
              </a:ext>
            </a:extLst>
          </p:cNvPr>
          <p:cNvSpPr>
            <a:spLocks xmlns:a="http://schemas.openxmlformats.org/drawingml/2006/main" noGrp="1"/>
          </p:cNvSpPr>
          <p:nvPr/>
        </p:nvSpPr>
        <p:spPr>
          <a:xfrm xmlns:a="http://schemas.openxmlformats.org/drawingml/2006/main">
            <a:off x="838200"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데이터 선택</a:t>
            </a:r>
          </a:p>
        </p:txBody>
      </p:sp>
      <p:sp>
        <p:nvSpPr>
          <p:cNvPr id="19" name="lane-데이터 선택-detail">
            <a:extLst xmlns:a="http://schemas.openxmlformats.org/drawingml/2006/main">
              <a:ext uri="{FF2B5EF4-FFF2-40B4-BE49-F238E27FC236}">
                <a16:creationId xmlns:a16="http://schemas.microsoft.com/office/drawing/2014/main" id="{8342DA54-665A-4CA5-A04A-9B5F311CFC52}"/>
              </a:ext>
            </a:extLst>
          </p:cNvPr>
          <p:cNvSpPr>
            <a:spLocks xmlns:a="http://schemas.openxmlformats.org/drawingml/2006/main" noGrp="1"/>
          </p:cNvSpPr>
          <p:nvPr/>
        </p:nvSpPr>
        <p:spPr>
          <a:xfrm xmlns:a="http://schemas.openxmlformats.org/drawingml/2006/main">
            <a:off x="838200"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15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CERES 내부 항목 또는 BIL/HDR</a:t>
            </a:r>
          </a:p>
        </p:txBody>
      </p:sp>
      <p:sp>
        <p:nvSpPr>
          <p:cNvPr id="20" name="lane-White + Dark">
            <a:extLst xmlns:a="http://schemas.openxmlformats.org/drawingml/2006/main">
              <a:ext uri="{FF2B5EF4-FFF2-40B4-BE49-F238E27FC236}">
                <a16:creationId xmlns:a16="http://schemas.microsoft.com/office/drawing/2014/main" id="{924D60A2-134C-4F6C-9CBC-ABFBD57B399C}"/>
              </a:ext>
            </a:extLst>
          </p:cNvPr>
          <p:cNvSpPr>
            <a:spLocks xmlns:a="http://schemas.openxmlformats.org/drawingml/2006/main" noGrp="1"/>
          </p:cNvSpPr>
          <p:nvPr/>
        </p:nvSpPr>
        <p:spPr>
          <a:xfrm xmlns:a="http://schemas.openxmlformats.org/drawingml/2006/main">
            <a:off x="685800"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1" name="lane-White + Dark-title">
            <a:extLst xmlns:a="http://schemas.openxmlformats.org/drawingml/2006/main">
              <a:ext uri="{FF2B5EF4-FFF2-40B4-BE49-F238E27FC236}">
                <a16:creationId xmlns:a16="http://schemas.microsoft.com/office/drawing/2014/main" id="{4B012A54-5AA4-4A70-98BD-289F33199D8E}"/>
              </a:ext>
            </a:extLst>
          </p:cNvPr>
          <p:cNvSpPr>
            <a:spLocks xmlns:a="http://schemas.openxmlformats.org/drawingml/2006/main" noGrp="1"/>
          </p:cNvSpPr>
          <p:nvPr/>
        </p:nvSpPr>
        <p:spPr>
          <a:xfrm xmlns:a="http://schemas.openxmlformats.org/drawingml/2006/main">
            <a:off x="83820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White + Dark</a:t>
            </a:r>
          </a:p>
        </p:txBody>
      </p:sp>
      <p:sp>
        <p:nvSpPr>
          <p:cNvPr id="22" name="lane-White + Dark-detail">
            <a:extLst xmlns:a="http://schemas.openxmlformats.org/drawingml/2006/main">
              <a:ext uri="{FF2B5EF4-FFF2-40B4-BE49-F238E27FC236}">
                <a16:creationId xmlns:a16="http://schemas.microsoft.com/office/drawing/2014/main" id="{7D56DB59-74CD-4F74-98D6-55643D0DDBAA}"/>
              </a:ext>
            </a:extLst>
          </p:cNvPr>
          <p:cNvSpPr>
            <a:spLocks xmlns:a="http://schemas.openxmlformats.org/drawingml/2006/main" noGrp="1"/>
          </p:cNvSpPr>
          <p:nvPr/>
        </p:nvSpPr>
        <p:spPr>
          <a:xfrm xmlns:a="http://schemas.openxmlformats.org/drawingml/2006/main">
            <a:off x="838200"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패널 ROI와 Sensor Dark 입력</a:t>
            </a:r>
          </a:p>
        </p:txBody>
      </p:sp>
      <p:sp>
        <p:nvSpPr>
          <p:cNvPr id="23" name="lane-calibration.npz + QC">
            <a:extLst xmlns:a="http://schemas.openxmlformats.org/drawingml/2006/main">
              <a:ext uri="{FF2B5EF4-FFF2-40B4-BE49-F238E27FC236}">
                <a16:creationId xmlns:a16="http://schemas.microsoft.com/office/drawing/2014/main" id="{7CDB5EF0-03A3-447F-8725-C658DACC5313}"/>
              </a:ext>
            </a:extLst>
          </p:cNvPr>
          <p:cNvSpPr>
            <a:spLocks xmlns:a="http://schemas.openxmlformats.org/drawingml/2006/main" noGrp="1"/>
          </p:cNvSpPr>
          <p:nvPr/>
        </p:nvSpPr>
        <p:spPr>
          <a:xfrm xmlns:a="http://schemas.openxmlformats.org/drawingml/2006/main">
            <a:off x="685800"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24" name="lane-calibration.npz + QC-title">
            <a:extLst xmlns:a="http://schemas.openxmlformats.org/drawingml/2006/main">
              <a:ext uri="{FF2B5EF4-FFF2-40B4-BE49-F238E27FC236}">
                <a16:creationId xmlns:a16="http://schemas.microsoft.com/office/drawing/2014/main" id="{A1ED4FAF-55D8-46E5-9D9E-69505FCE0B41}"/>
              </a:ext>
            </a:extLst>
          </p:cNvPr>
          <p:cNvSpPr>
            <a:spLocks xmlns:a="http://schemas.openxmlformats.org/drawingml/2006/main" noGrp="1"/>
          </p:cNvSpPr>
          <p:nvPr/>
        </p:nvSpPr>
        <p:spPr>
          <a:xfrm xmlns:a="http://schemas.openxmlformats.org/drawingml/2006/main">
            <a:off x="838200"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calibration.npz + QC</a:t>
            </a:r>
          </a:p>
        </p:txBody>
      </p:sp>
      <p:sp>
        <p:nvSpPr>
          <p:cNvPr id="25" name="lane-calibration.npz + QC-detail">
            <a:extLst xmlns:a="http://schemas.openxmlformats.org/drawingml/2006/main">
              <a:ext uri="{FF2B5EF4-FFF2-40B4-BE49-F238E27FC236}">
                <a16:creationId xmlns:a16="http://schemas.microsoft.com/office/drawing/2014/main" id="{655332F3-3BBA-46BE-BE5C-A71CFA83F341}"/>
              </a:ext>
            </a:extLst>
          </p:cNvPr>
          <p:cNvSpPr>
            <a:spLocks xmlns:a="http://schemas.openxmlformats.org/drawingml/2006/main" noGrp="1"/>
          </p:cNvSpPr>
          <p:nvPr/>
        </p:nvSpPr>
        <p:spPr>
          <a:xfrm xmlns:a="http://schemas.openxmlformats.org/drawingml/2006/main">
            <a:off x="838200"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포화 · 800 nm 계단 점프</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유효 파장과 연속성 확인</a:t>
            </a:r>
          </a:p>
        </p:txBody>
      </p:sp>
      <p:sp>
        <p:nvSpPr>
          <p:cNvPr id="26" name="lane-RGB / 빠른 미리보기">
            <a:extLst xmlns:a="http://schemas.openxmlformats.org/drawingml/2006/main">
              <a:ext uri="{FF2B5EF4-FFF2-40B4-BE49-F238E27FC236}">
                <a16:creationId xmlns:a16="http://schemas.microsoft.com/office/drawing/2014/main" id="{1012ED45-E081-4E3F-B8BE-B60B1F764D8E}"/>
              </a:ext>
            </a:extLst>
          </p:cNvPr>
          <p:cNvSpPr>
            <a:spLocks xmlns:a="http://schemas.openxmlformats.org/drawingml/2006/main" noGrp="1"/>
          </p:cNvSpPr>
          <p:nvPr/>
        </p:nvSpPr>
        <p:spPr>
          <a:xfrm xmlns:a="http://schemas.openxmlformats.org/drawingml/2006/main">
            <a:off x="4619625"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7" name="lane-RGB / 빠른 미리보기-title">
            <a:extLst xmlns:a="http://schemas.openxmlformats.org/drawingml/2006/main">
              <a:ext uri="{FF2B5EF4-FFF2-40B4-BE49-F238E27FC236}">
                <a16:creationId xmlns:a16="http://schemas.microsoft.com/office/drawing/2014/main" id="{E6617066-844D-487E-B198-E4328FFB727F}"/>
              </a:ext>
            </a:extLst>
          </p:cNvPr>
          <p:cNvSpPr>
            <a:spLocks xmlns:a="http://schemas.openxmlformats.org/drawingml/2006/main" noGrp="1"/>
          </p:cNvSpPr>
          <p:nvPr/>
        </p:nvSpPr>
        <p:spPr>
          <a:xfrm xmlns:a="http://schemas.openxmlformats.org/drawingml/2006/main">
            <a:off x="4772025"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RGB / 빠른 미리보기</a:t>
            </a:r>
          </a:p>
        </p:txBody>
      </p:sp>
      <p:sp>
        <p:nvSpPr>
          <p:cNvPr id="28" name="lane-RGB / 빠른 미리보기-detail">
            <a:extLst xmlns:a="http://schemas.openxmlformats.org/drawingml/2006/main">
              <a:ext uri="{FF2B5EF4-FFF2-40B4-BE49-F238E27FC236}">
                <a16:creationId xmlns:a16="http://schemas.microsoft.com/office/drawing/2014/main" id="{443578B8-3510-4951-B73A-9F9C8591E1AB}"/>
              </a:ext>
            </a:extLst>
          </p:cNvPr>
          <p:cNvSpPr>
            <a:spLocks xmlns:a="http://schemas.openxmlformats.org/drawingml/2006/main" noGrp="1"/>
          </p:cNvSpPr>
          <p:nvPr/>
        </p:nvSpPr>
        <p:spPr>
          <a:xfrm xmlns:a="http://schemas.openxmlformats.org/drawingml/2006/main">
            <a:off x="4772025"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542"/>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대용량 영상도 먼저 가볍게 확인</a:t>
            </a:r>
          </a:p>
        </p:txBody>
      </p:sp>
      <p:sp>
        <p:nvSpPr>
          <p:cNvPr id="29" name="lane-분석 데이터 선택">
            <a:extLst xmlns:a="http://schemas.openxmlformats.org/drawingml/2006/main">
              <a:ext uri="{FF2B5EF4-FFF2-40B4-BE49-F238E27FC236}">
                <a16:creationId xmlns:a16="http://schemas.microsoft.com/office/drawing/2014/main" id="{E83D1180-7DAA-46C8-894F-C8BFCB449617}"/>
              </a:ext>
            </a:extLst>
          </p:cNvPr>
          <p:cNvSpPr>
            <a:spLocks xmlns:a="http://schemas.openxmlformats.org/drawingml/2006/main" noGrp="1"/>
          </p:cNvSpPr>
          <p:nvPr/>
        </p:nvSpPr>
        <p:spPr>
          <a:xfrm xmlns:a="http://schemas.openxmlformats.org/drawingml/2006/main">
            <a:off x="4619625"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0" name="lane-분석 데이터 선택-title">
            <a:extLst xmlns:a="http://schemas.openxmlformats.org/drawingml/2006/main">
              <a:ext uri="{FF2B5EF4-FFF2-40B4-BE49-F238E27FC236}">
                <a16:creationId xmlns:a16="http://schemas.microsoft.com/office/drawing/2014/main" id="{18F70B43-EABA-49BD-B058-A816DDC15BAA}"/>
              </a:ext>
            </a:extLst>
          </p:cNvPr>
          <p:cNvSpPr>
            <a:spLocks xmlns:a="http://schemas.openxmlformats.org/drawingml/2006/main" noGrp="1"/>
          </p:cNvSpPr>
          <p:nvPr/>
        </p:nvSpPr>
        <p:spPr>
          <a:xfrm xmlns:a="http://schemas.openxmlformats.org/drawingml/2006/main">
            <a:off x="4772025"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분석 데이터 선택</a:t>
            </a:r>
          </a:p>
        </p:txBody>
      </p:sp>
      <p:sp>
        <p:nvSpPr>
          <p:cNvPr id="31" name="lane-분석 데이터 선택-detail">
            <a:extLst xmlns:a="http://schemas.openxmlformats.org/drawingml/2006/main">
              <a:ext uri="{FF2B5EF4-FFF2-40B4-BE49-F238E27FC236}">
                <a16:creationId xmlns:a16="http://schemas.microsoft.com/office/drawing/2014/main" id="{CDBE83B3-17E0-4335-9B26-352A034ED302}"/>
              </a:ext>
            </a:extLst>
          </p:cNvPr>
          <p:cNvSpPr>
            <a:spLocks xmlns:a="http://schemas.openxmlformats.org/drawingml/2006/main" noGrp="1"/>
          </p:cNvSpPr>
          <p:nvPr/>
        </p:nvSpPr>
        <p:spPr>
          <a:xfrm xmlns:a="http://schemas.openxmlformats.org/drawingml/2006/main">
            <a:off x="4772025"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권장: 정규화 Raw DN</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선택: 보정 반사율</a:t>
            </a:r>
          </a:p>
        </p:txBody>
      </p:sp>
      <p:sp>
        <p:nvSpPr>
          <p:cNvPr id="32" name="lane-전체 클러스터링">
            <a:extLst xmlns:a="http://schemas.openxmlformats.org/drawingml/2006/main">
              <a:ext uri="{FF2B5EF4-FFF2-40B4-BE49-F238E27FC236}">
                <a16:creationId xmlns:a16="http://schemas.microsoft.com/office/drawing/2014/main" id="{D888D3BF-3FF9-48E6-A97C-56561B38C018}"/>
              </a:ext>
            </a:extLst>
          </p:cNvPr>
          <p:cNvSpPr>
            <a:spLocks xmlns:a="http://schemas.openxmlformats.org/drawingml/2006/main" noGrp="1"/>
          </p:cNvSpPr>
          <p:nvPr/>
        </p:nvSpPr>
        <p:spPr>
          <a:xfrm xmlns:a="http://schemas.openxmlformats.org/drawingml/2006/main">
            <a:off x="4619625"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33" name="lane-전체 클러스터링-title">
            <a:extLst xmlns:a="http://schemas.openxmlformats.org/drawingml/2006/main">
              <a:ext uri="{FF2B5EF4-FFF2-40B4-BE49-F238E27FC236}">
                <a16:creationId xmlns:a16="http://schemas.microsoft.com/office/drawing/2014/main" id="{4B5DA333-87BA-4C8A-B9FF-0C67DDEA5FDA}"/>
              </a:ext>
            </a:extLst>
          </p:cNvPr>
          <p:cNvSpPr>
            <a:spLocks xmlns:a="http://schemas.openxmlformats.org/drawingml/2006/main" noGrp="1"/>
          </p:cNvSpPr>
          <p:nvPr/>
        </p:nvSpPr>
        <p:spPr>
          <a:xfrm xmlns:a="http://schemas.openxmlformats.org/drawingml/2006/main">
            <a:off x="4772025"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전체 클러스터링</a:t>
            </a:r>
          </a:p>
        </p:txBody>
      </p:sp>
      <p:sp>
        <p:nvSpPr>
          <p:cNvPr id="34" name="lane-전체 클러스터링-detail">
            <a:extLst xmlns:a="http://schemas.openxmlformats.org/drawingml/2006/main">
              <a:ext uri="{FF2B5EF4-FFF2-40B4-BE49-F238E27FC236}">
                <a16:creationId xmlns:a16="http://schemas.microsoft.com/office/drawing/2014/main" id="{D4F55E5D-5D5C-45EB-B79D-2ECF7F70AA23}"/>
              </a:ext>
            </a:extLst>
          </p:cNvPr>
          <p:cNvSpPr>
            <a:spLocks xmlns:a="http://schemas.openxmlformats.org/drawingml/2006/main" noGrp="1"/>
          </p:cNvSpPr>
          <p:nvPr/>
        </p:nvSpPr>
        <p:spPr>
          <a:xfrm xmlns:a="http://schemas.openxmlformats.org/drawingml/2006/main">
            <a:off x="4772025"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RGB + cluster overlay로</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잎 · 토양 · 그림자 분리 확인</a:t>
            </a:r>
          </a:p>
        </p:txBody>
      </p:sp>
      <p:sp>
        <p:nvSpPr>
          <p:cNvPr id="35" name="lane-ROI 설정">
            <a:extLst xmlns:a="http://schemas.openxmlformats.org/drawingml/2006/main">
              <a:ext uri="{FF2B5EF4-FFF2-40B4-BE49-F238E27FC236}">
                <a16:creationId xmlns:a16="http://schemas.microsoft.com/office/drawing/2014/main" id="{44E416E2-CDF1-4D94-AA6D-3A5DBBCB4D5C}"/>
              </a:ext>
            </a:extLst>
          </p:cNvPr>
          <p:cNvSpPr>
            <a:spLocks xmlns:a="http://schemas.openxmlformats.org/drawingml/2006/main" noGrp="1"/>
          </p:cNvSpPr>
          <p:nvPr/>
        </p:nvSpPr>
        <p:spPr>
          <a:xfrm xmlns:a="http://schemas.openxmlformats.org/drawingml/2006/main">
            <a:off x="8553450"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6" name="lane-ROI 설정-title">
            <a:extLst xmlns:a="http://schemas.openxmlformats.org/drawingml/2006/main">
              <a:ext uri="{FF2B5EF4-FFF2-40B4-BE49-F238E27FC236}">
                <a16:creationId xmlns:a16="http://schemas.microsoft.com/office/drawing/2014/main" id="{BDF1701A-6382-4741-AFDC-50AD21399B45}"/>
              </a:ext>
            </a:extLst>
          </p:cNvPr>
          <p:cNvSpPr>
            <a:spLocks xmlns:a="http://schemas.openxmlformats.org/drawingml/2006/main" noGrp="1"/>
          </p:cNvSpPr>
          <p:nvPr/>
        </p:nvSpPr>
        <p:spPr>
          <a:xfrm xmlns:a="http://schemas.openxmlformats.org/drawingml/2006/main">
            <a:off x="8705850"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ROI 설정</a:t>
            </a:r>
          </a:p>
        </p:txBody>
      </p:sp>
      <p:sp>
        <p:nvSpPr>
          <p:cNvPr id="37" name="lane-ROI 설정-detail">
            <a:extLst xmlns:a="http://schemas.openxmlformats.org/drawingml/2006/main">
              <a:ext uri="{FF2B5EF4-FFF2-40B4-BE49-F238E27FC236}">
                <a16:creationId xmlns:a16="http://schemas.microsoft.com/office/drawing/2014/main" id="{BE0838D1-2ED7-4107-9A3F-7DD4A069D256}"/>
              </a:ext>
            </a:extLst>
          </p:cNvPr>
          <p:cNvSpPr>
            <a:spLocks xmlns:a="http://schemas.openxmlformats.org/drawingml/2006/main" noGrp="1"/>
          </p:cNvSpPr>
          <p:nvPr/>
        </p:nvSpPr>
        <p:spPr>
          <a:xfrm xmlns:a="http://schemas.openxmlformats.org/drawingml/2006/main">
            <a:off x="8705850"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542"/>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박스 또는 폴리곤으로 구역 지정</a:t>
            </a:r>
          </a:p>
        </p:txBody>
      </p:sp>
      <p:sp>
        <p:nvSpPr>
          <p:cNvPr id="38" name="lane-품질에 따라 분기">
            <a:extLst xmlns:a="http://schemas.openxmlformats.org/drawingml/2006/main">
              <a:ext uri="{FF2B5EF4-FFF2-40B4-BE49-F238E27FC236}">
                <a16:creationId xmlns:a16="http://schemas.microsoft.com/office/drawing/2014/main" id="{3316F38E-7056-4DA9-BAEB-1E03D8C0C070}"/>
              </a:ext>
            </a:extLst>
          </p:cNvPr>
          <p:cNvSpPr>
            <a:spLocks xmlns:a="http://schemas.openxmlformats.org/drawingml/2006/main" noGrp="1"/>
          </p:cNvSpPr>
          <p:nvPr/>
        </p:nvSpPr>
        <p:spPr>
          <a:xfrm xmlns:a="http://schemas.openxmlformats.org/drawingml/2006/main">
            <a:off x="8553450"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9" name="lane-품질에 따라 분기-title">
            <a:extLst xmlns:a="http://schemas.openxmlformats.org/drawingml/2006/main">
              <a:ext uri="{FF2B5EF4-FFF2-40B4-BE49-F238E27FC236}">
                <a16:creationId xmlns:a16="http://schemas.microsoft.com/office/drawing/2014/main" id="{14D03508-7792-4346-9471-6FC79E13B7DB}"/>
              </a:ext>
            </a:extLst>
          </p:cNvPr>
          <p:cNvSpPr>
            <a:spLocks xmlns:a="http://schemas.openxmlformats.org/drawingml/2006/main" noGrp="1"/>
          </p:cNvSpPr>
          <p:nvPr/>
        </p:nvSpPr>
        <p:spPr>
          <a:xfrm xmlns:a="http://schemas.openxmlformats.org/drawingml/2006/main">
            <a:off x="87058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품질에 따라 분기</a:t>
            </a:r>
          </a:p>
        </p:txBody>
      </p:sp>
      <p:sp>
        <p:nvSpPr>
          <p:cNvPr id="40" name="lane-품질에 따라 분기-detail">
            <a:extLst xmlns:a="http://schemas.openxmlformats.org/drawingml/2006/main">
              <a:ext uri="{FF2B5EF4-FFF2-40B4-BE49-F238E27FC236}">
                <a16:creationId xmlns:a16="http://schemas.microsoft.com/office/drawing/2014/main" id="{3A098113-67BD-49F3-A83F-D2B05D8E47EF}"/>
              </a:ext>
            </a:extLst>
          </p:cNvPr>
          <p:cNvSpPr>
            <a:spLocks xmlns:a="http://schemas.openxmlformats.org/drawingml/2006/main" noGrp="1"/>
          </p:cNvSpPr>
          <p:nvPr/>
        </p:nvSpPr>
        <p:spPr>
          <a:xfrm xmlns:a="http://schemas.openxmlformats.org/drawingml/2006/main">
            <a:off x="8705850"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양호 → 추출</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문제 → ROI 재클러스터링</a:t>
            </a:r>
          </a:p>
        </p:txBody>
      </p:sp>
      <p:sp>
        <p:nvSpPr>
          <p:cNvPr id="41" name="lane-결과 저장">
            <a:extLst xmlns:a="http://schemas.openxmlformats.org/drawingml/2006/main">
              <a:ext uri="{FF2B5EF4-FFF2-40B4-BE49-F238E27FC236}">
                <a16:creationId xmlns:a16="http://schemas.microsoft.com/office/drawing/2014/main" id="{BE97BD14-B150-4DED-9E70-44478839DFFC}"/>
              </a:ext>
            </a:extLst>
          </p:cNvPr>
          <p:cNvSpPr>
            <a:spLocks xmlns:a="http://schemas.openxmlformats.org/drawingml/2006/main" noGrp="1"/>
          </p:cNvSpPr>
          <p:nvPr/>
        </p:nvSpPr>
        <p:spPr>
          <a:xfrm xmlns:a="http://schemas.openxmlformats.org/drawingml/2006/main">
            <a:off x="8553450"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42" name="lane-결과 저장-title">
            <a:extLst xmlns:a="http://schemas.openxmlformats.org/drawingml/2006/main">
              <a:ext uri="{FF2B5EF4-FFF2-40B4-BE49-F238E27FC236}">
                <a16:creationId xmlns:a16="http://schemas.microsoft.com/office/drawing/2014/main" id="{5AB7CBDB-78E3-433B-9DD5-714FDCFE7DF4}"/>
              </a:ext>
            </a:extLst>
          </p:cNvPr>
          <p:cNvSpPr>
            <a:spLocks xmlns:a="http://schemas.openxmlformats.org/drawingml/2006/main" noGrp="1"/>
          </p:cNvSpPr>
          <p:nvPr/>
        </p:nvSpPr>
        <p:spPr>
          <a:xfrm xmlns:a="http://schemas.openxmlformats.org/drawingml/2006/main">
            <a:off x="8705850"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결과 저장</a:t>
            </a:r>
          </a:p>
        </p:txBody>
      </p:sp>
      <p:sp>
        <p:nvSpPr>
          <p:cNvPr id="43" name="lane-결과 저장-detail">
            <a:extLst xmlns:a="http://schemas.openxmlformats.org/drawingml/2006/main">
              <a:ext uri="{FF2B5EF4-FFF2-40B4-BE49-F238E27FC236}">
                <a16:creationId xmlns:a16="http://schemas.microsoft.com/office/drawing/2014/main" id="{2AC27B82-950F-461E-96A5-1FD871E57BBA}"/>
              </a:ext>
            </a:extLst>
          </p:cNvPr>
          <p:cNvSpPr>
            <a:spLocks xmlns:a="http://schemas.openxmlformats.org/drawingml/2006/main" noGrp="1"/>
          </p:cNvSpPr>
          <p:nvPr/>
        </p:nvSpPr>
        <p:spPr>
          <a:xfrm xmlns:a="http://schemas.openxmlformats.org/drawingml/2006/main">
            <a:off x="8705850"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Raw + calibrated spectra</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HTML · Excel · CSV · PNG</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파일별 + 하루 단위 요약</a:t>
            </a:r>
          </a:p>
        </p:txBody>
      </p:sp>
      <p:sp>
        <p:nvSpPr>
          <p:cNvPr id="44" name="">
            <a:extLst xmlns:a="http://schemas.openxmlformats.org/drawingml/2006/main">
              <a:ext uri="{FF2B5EF4-FFF2-40B4-BE49-F238E27FC236}">
                <a16:creationId xmlns:a16="http://schemas.microsoft.com/office/drawing/2014/main" id="{586F439C-632C-4E93-A14D-1E80EBDAC50A}"/>
              </a:ext>
            </a:extLst>
          </p:cNvPr>
          <p:cNvSpPr>
            <a:spLocks xmlns:a="http://schemas.openxmlformats.org/drawingml/2006/main" noGrp="1"/>
          </p:cNvSpPr>
          <p:nvPr/>
        </p:nvSpPr>
        <p:spPr>
          <a:xfrm xmlns:a="http://schemas.openxmlformats.org/drawingml/2006/main">
            <a:off x="476250" y="5867400"/>
            <a:ext cx="11239500" cy="514350"/>
          </a:xfrm>
          <a:prstGeom xmlns:a="http://schemas.openxmlformats.org/drawingml/2006/main" prst="rect">
            <a:avLst/>
          </a:prstGeom>
          <a:solidFill xmlns:a="http://schemas.openxmlformats.org/drawingml/2006/main">
            <a:srgbClr val="DDF3FC"/>
          </a:solidFill>
          <a:ln xmlns:a="http://schemas.openxmlformats.org/drawingml/2006/main" w="0">
            <a:solidFill>
              <a:srgbClr val="DDF3FC"/>
            </a:solidFill>
            <a:prstDash val="solid"/>
          </a:ln>
        </p:spPr>
      </p:sp>
      <p:sp>
        <p:nvSpPr>
          <p:cNvPr id="45" name="detail-bottom-note">
            <a:extLst xmlns:a="http://schemas.openxmlformats.org/drawingml/2006/main">
              <a:ext uri="{FF2B5EF4-FFF2-40B4-BE49-F238E27FC236}">
                <a16:creationId xmlns:a16="http://schemas.microsoft.com/office/drawing/2014/main" id="{E66BCDFA-5C29-4C80-8F4C-B0181A77B16A}"/>
              </a:ext>
            </a:extLst>
          </p:cNvPr>
          <p:cNvSpPr>
            <a:spLocks xmlns:a="http://schemas.openxmlformats.org/drawingml/2006/main" noGrp="1"/>
          </p:cNvSpPr>
          <p:nvPr/>
        </p:nvSpPr>
        <p:spPr>
          <a:xfrm xmlns:a="http://schemas.openxmlformats.org/drawingml/2006/main">
            <a:off x="685800" y="60007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QC PASS인 calibration.npz가 있으면, 최종 스펙트럼과 식생지수는 보정 반사율을 기준으로 기록</a:t>
            </a:r>
          </a:p>
        </p:txBody>
      </p:sp>
      <p:sp>
        <p:nvSpPr>
          <p:cNvPr id="46" name="slide-3-number">
            <a:extLst xmlns:a="http://schemas.openxmlformats.org/drawingml/2006/main">
              <a:ext uri="{FF2B5EF4-FFF2-40B4-BE49-F238E27FC236}">
                <a16:creationId xmlns:a16="http://schemas.microsoft.com/office/drawing/2014/main" id="{297B99DA-879E-44DA-A55A-4C5AC74D401F}"/>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200" b="0">
                <a:solidFill>
                  <a:srgbClr val="59616D"/>
                </a:solidFill>
                <a:latin typeface="Malgun Gothic"/>
                <a:ea typeface="Malgun Gothic"/>
                <a:cs typeface="Malgun Gothic"/>
              </a:defRPr>
            </a:pPr>
            <a:r>
              <a:rPr sz="1200" b="0">
                <a:solidFill>
                  <a:srgbClr val="59616D"/>
                </a:solidFill>
                <a:latin typeface="Malgun Gothic"/>
                <a:ea typeface="Malgun Gothic"/>
                <a:cs typeface="Malgun Gothic"/>
              </a:rPr>
              <a:t>03</a:t>
            </a:r>
          </a:p>
        </p:txBody>
      </p:sp>
    </p:spTree>
    <p:extLst>
      <p:ext uri="{BB962C8B-B14F-4D97-AF65-F5344CB8AC3E}">
        <p14:creationId xmlns:p14="http://schemas.microsoft.com/office/powerpoint/2010/main" val="148954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2026-09-01T15:38:36.3500000Z</dcterms:created>
  <dcterms:modified xsi:type="dcterms:W3CDTF">2026-09-01T15:38:36.3500000Z</dcterms:modified>
</coreProperties>
</file>