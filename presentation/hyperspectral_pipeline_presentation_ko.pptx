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0fa5a2846644bc" /><Relationship Type="http://schemas.openxmlformats.org/officeDocument/2006/relationships/extended-properties" Target="/docProps/app.xml" Id="R943315a04fd244a3" /><Relationship Type="http://schemas.openxmlformats.org/officeDocument/2006/relationships/officeDocument" Target="/ppt/presentation.xml" Id="R77acb53a987147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47c49408394db3"/>
  </p:sldMasterIdLst>
  <p:notesMasterIdLst>
    <p:notesMasterId xmlns:r="http://schemas.openxmlformats.org/officeDocument/2006/relationships" r:id="Rcaa0630dd87a4659"/>
  </p:notesMasterIdLst>
  <p:sldIdLst>
    <p:sldId xmlns:r="http://schemas.openxmlformats.org/officeDocument/2006/relationships" id="256" r:id="R9b954cee2f6c4d31"/>
    <p:sldId xmlns:r="http://schemas.openxmlformats.org/officeDocument/2006/relationships" id="257" r:id="Rc8cbc8a0641d4fd2"/>
    <p:sldId xmlns:r="http://schemas.openxmlformats.org/officeDocument/2006/relationships" id="258" r:id="R3627aa4ab01846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ba80800a994d96" /><Relationship Type="http://schemas.openxmlformats.org/officeDocument/2006/relationships/slideMaster" Target="/ppt/slideMasters/slideMaster1.xml" Id="R6f47c49408394db3" /><Relationship Type="http://schemas.openxmlformats.org/officeDocument/2006/relationships/notesMaster" Target="/ppt/notesMasters/notesMaster1.xml" Id="Rcaa0630dd87a4659" /><Relationship Type="http://schemas.openxmlformats.org/officeDocument/2006/relationships/presProps" Target="/ppt/presProps.xml" Id="Rda37551991c64826" /><Relationship Type="http://schemas.openxmlformats.org/officeDocument/2006/relationships/tableStyles" Target="/ppt/tableStyles.xml" Id="Rc43b9676e6384f7c" /><Relationship Type="http://schemas.openxmlformats.org/officeDocument/2006/relationships/slide" Target="/ppt/slides/slide1.xml" Id="R9b954cee2f6c4d31" /><Relationship Type="http://schemas.openxmlformats.org/officeDocument/2006/relationships/slide" Target="/ppt/slides/slide2.xml" Id="Rc8cbc8a0641d4fd2" /><Relationship Type="http://schemas.openxmlformats.org/officeDocument/2006/relationships/slide" Target="/ppt/slides/slide3.xml" Id="R3627aa4ab018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13e548d60742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c425444aad4b14" /><Relationship Type="http://schemas.openxmlformats.org/officeDocument/2006/relationships/notesMaster" Target="/ppt/notesMasters/notesMaster1.xml" Id="R74073f61ebcb4f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eb3adf2c864e8c" /><Relationship Type="http://schemas.openxmlformats.org/officeDocument/2006/relationships/notesMaster" Target="/ppt/notesMasters/notesMaster1.xml" Id="R7c534f6470f04a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0f1f81ee6f4995" /><Relationship Type="http://schemas.openxmlformats.org/officeDocument/2006/relationships/notesMaster" Target="/ppt/notesMasters/notesMaster1.xml" Id="R71866e17b31448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발표는 대용량 CERES 또는 BIL 초분광 영상을 연구팀이 바로 이해할 수 있는 결과로 변환하는 전체 흐름을 설명합니다.</a:t>
            </a:r>
          </a:p>
          <a:p xmlns:a="http://schemas.openxmlformats.org/drawingml/2006/main">
            <a:r>
              <a:t>다음 장에서는 먼저 다섯 단계의 큰 그림을 보여주고, 그 다음 장에서 보정 품질검사와 ROI 재분석 과정을 확장해 설명합니다.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workflow based on user-provided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장에서는 기술적인 세부사항보다 전체 흐름만 설명합니다.</a:t>
            </a:r>
          </a:p>
          <a:p xmlns:a="http://schemas.openxmlformats.org/drawingml/2006/main">
            <a:r>
              <a:t>첫째, CERES 또는 BIL/HDR 데이터를 불러옵니다. 둘째, White panel과 Sensor Dark를 이용해 반사율 보정파일을 적용합니다.</a:t>
            </a:r>
          </a:p>
          <a:p xmlns:a="http://schemas.openxmlformats.org/drawingml/2006/main">
            <a:r>
              <a:t>셋째, 전체 영상을 클러스터링하고, 넷째, 색상 오버레이와 ROI로 결과를 확인합니다. 마지막으로 연구팀이 보기 쉬운 파일과 보고서를 저장합니다.</a:t>
            </a:r>
          </a:p>
          <a:p xmlns:a="http://schemas.openxmlformats.org/drawingml/2006/main">
            <a:r>
              <a:t>강조할 점은 클러스터링과 최종 스펙트럼 저장에 서로 다른 데이터 표현을 사용할 수 있다는 것입니다.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workflow based on user-provided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흐름은 세 구역으로 설명합니다: 입력과 보정, 전체 영상 분석, ROI와 보고서입니다.</a:t>
            </a:r>
          </a:p>
          <a:p xmlns:a="http://schemas.openxmlformats.org/drawingml/2006/main">
            <a:r>
              <a:t>보정파일은 생성 자체보다 품질검사가 중요합니다. 포화와 비정상적인 파장 점프를 확인하고 QC를 통과한 파일만 사용합니다.</a:t>
            </a:r>
          </a:p>
          <a:p xmlns:a="http://schemas.openxmlformats.org/drawingml/2006/main">
            <a:r>
              <a:t>전체 영상은 먼저 클러스터링한 뒤 색상 오버레이로 품질을 확인합니다. 결과가 나쁜 구역만 ROI별 설정으로 다시 클러스터링하므로 전체 분석을 반복할 필요가 없습니다.</a:t>
            </a:r>
          </a:p>
          <a:p xmlns:a="http://schemas.openxmlformats.org/drawingml/2006/main">
            <a:r>
              <a:t>최종적으로 원본 값과 보정 반사율을 모두 남기고, 파일별 결과와 하루 단위 요약을 연구팀에 제공합니다.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workflow based on user-provided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6359fde464b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cb488d44dc410a" /><Relationship Type="http://schemas.openxmlformats.org/officeDocument/2006/relationships/slideLayout" Target="/ppt/slideLayouts/slideLayout1.xml" Id="R737bc77037554e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7bc77037554e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f1411c79541a5" /><Relationship Type="http://schemas.openxmlformats.org/officeDocument/2006/relationships/notesSlide" Target="/ppt/notesSlides/notesSlide1.xml" Id="R74d2d62d3fad4b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68587d4ee4573" /><Relationship Type="http://schemas.openxmlformats.org/officeDocument/2006/relationships/notesSlide" Target="/ppt/notesSlides/notesSlide2.xml" Id="R1a5270000d0943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a61b8b54345d5" /><Relationship Type="http://schemas.openxmlformats.org/officeDocument/2006/relationships/notesSlide" Target="/ppt/notesSlides/notesSlide3.xml" Id="R79e4cf128c3e40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946E4-DA62-446C-BEC4-9825799E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07CA89A-B74F-474D-9D18-B6D2414D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UIUC RIPE · HYPERSPECTRAL ANALYSIS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8040738-4057-42C6-8D03-DFCA6F09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현장 초분광 데이터를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연구 결과로 바꾸는 파이프라인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533B78A-4ED9-4579-BDF3-75A076BF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CERES/BIL → 반사율 보정 → 클러스터링 → ROI 스펙트럼 → 자동 리포트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35FE2-8EF8-48B7-802B-D3EC2E5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2AE9C73-98B0-4B3A-AEE0-57439BF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Field-scale hyperspectral analysis workflow</a:t>
            </a:r>
          </a:p>
        </p:txBody>
      </p:sp>
    </p:spTree>
    <p:extLst>
      <p:ext uri="{BB962C8B-B14F-4D97-AF65-F5344CB8AC3E}">
        <p14:creationId xmlns:p14="http://schemas.microsoft.com/office/powerpoint/2010/main" val="1100129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D923BB-22B0-4899-A749-7C7B38A9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simple-title">
            <a:extLst xmlns:a="http://schemas.openxmlformats.org/drawingml/2006/main">
              <a:ext uri="{FF2B5EF4-FFF2-40B4-BE49-F238E27FC236}">
                <a16:creationId xmlns:a16="http://schemas.microsoft.com/office/drawing/2014/main" id="{FD9BC115-1774-4F1D-AB0B-BCC9E9F4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데이터는 다섯 단계로 연구 결과가 된다</a:t>
            </a:r>
          </a:p>
        </p:txBody>
      </p:sp>
      <p:sp>
        <p:nvSpPr>
          <p:cNvPr id="3" name="simple-kicker">
            <a:extLst xmlns:a="http://schemas.openxmlformats.org/drawingml/2006/main">
              <a:ext uri="{FF2B5EF4-FFF2-40B4-BE49-F238E27FC236}">
                <a16:creationId xmlns:a16="http://schemas.microsoft.com/office/drawing/2014/main" id="{594B0863-B893-4607-A464-CC613AE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사용자가 기억해야 할 전체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5F2F6-A2C5-4F5E-BD69-39CD92AA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861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C7F1E-A7C6-4523-AC7D-1CA1512E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7178D-B145-48F9-9F1A-5C8D6C7F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861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69D00-C7D4-40D2-831F-EF108A55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tep-1-불러오기">
            <a:extLst xmlns:a="http://schemas.openxmlformats.org/drawingml/2006/main">
              <a:ext uri="{FF2B5EF4-FFF2-40B4-BE49-F238E27FC236}">
                <a16:creationId xmlns:a16="http://schemas.microsoft.com/office/drawing/2014/main" id="{83F53C90-BA8E-41D1-849A-8597E3AA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88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B0326CAE-9F72-4380-8234-C1EB51A7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932A94-EE8D-4108-9B67-8A303FD8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불러오기</a:t>
            </a:r>
          </a:p>
        </p:txBody>
      </p:sp>
      <p:sp>
        <p:nvSpPr>
          <p:cNvPr id="11" name="step-1-detail">
            <a:extLst xmlns:a="http://schemas.openxmlformats.org/drawingml/2006/main">
              <a:ext uri="{FF2B5EF4-FFF2-40B4-BE49-F238E27FC236}">
                <a16:creationId xmlns:a16="http://schemas.microsoft.com/office/drawing/2014/main" id="{22711278-0C89-4D62-8FB9-84DC97B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CERES 내부 항목 선택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또는 BIL/HDR 열기</a:t>
            </a:r>
          </a:p>
        </p:txBody>
      </p:sp>
      <p:sp>
        <p:nvSpPr>
          <p:cNvPr id="12" name="step-2-반사율 보정">
            <a:extLst xmlns:a="http://schemas.openxmlformats.org/drawingml/2006/main">
              <a:ext uri="{FF2B5EF4-FFF2-40B4-BE49-F238E27FC236}">
                <a16:creationId xmlns:a16="http://schemas.microsoft.com/office/drawing/2014/main" id="{66F463DE-3CEF-4F6D-BBE6-9022E760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52625"/>
            <a:ext cx="188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71B34E98-BB4E-4296-859F-AB965BBD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AC67280E-856C-4A39-B8D7-C96641D5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3367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반사율 보정</a:t>
            </a:r>
          </a:p>
        </p:txBody>
      </p:sp>
      <p:sp>
        <p:nvSpPr>
          <p:cNvPr id="15" name="step-2-detail">
            <a:extLst xmlns:a="http://schemas.openxmlformats.org/drawingml/2006/main">
              <a:ext uri="{FF2B5EF4-FFF2-40B4-BE49-F238E27FC236}">
                <a16:creationId xmlns:a16="http://schemas.microsoft.com/office/drawing/2014/main" id="{D602A726-92AE-4A9A-A545-B66F0776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81375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White panel +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Sensor Dark</a:t>
            </a:r>
          </a:p>
        </p:txBody>
      </p:sp>
      <p:sp>
        <p:nvSpPr>
          <p:cNvPr id="16" name="step-3-클러스터링">
            <a:extLst xmlns:a="http://schemas.openxmlformats.org/drawingml/2006/main">
              <a:ext uri="{FF2B5EF4-FFF2-40B4-BE49-F238E27FC236}">
                <a16:creationId xmlns:a16="http://schemas.microsoft.com/office/drawing/2014/main" id="{7ABA1C21-0E0F-45E7-A75D-E80B8265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188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9369B5AA-B5F1-4C8A-BEEF-5B5B3D9F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91DEB2AB-9914-4EFB-A292-2517E26A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3367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클러스터링</a:t>
            </a:r>
          </a:p>
        </p:txBody>
      </p:sp>
      <p:sp>
        <p:nvSpPr>
          <p:cNvPr id="19" name="step-3-detail">
            <a:extLst xmlns:a="http://schemas.openxmlformats.org/drawingml/2006/main">
              <a:ext uri="{FF2B5EF4-FFF2-40B4-BE49-F238E27FC236}">
                <a16:creationId xmlns:a16="http://schemas.microsoft.com/office/drawing/2014/main" id="{B4F6F1FF-3B86-44E7-A12F-CAEECFAE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81375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잎 · 토양 · 그림자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전체 영상 분류</a:t>
            </a:r>
          </a:p>
        </p:txBody>
      </p:sp>
      <p:sp>
        <p:nvSpPr>
          <p:cNvPr id="20" name="step-4-확인과 ROI">
            <a:extLst xmlns:a="http://schemas.openxmlformats.org/drawingml/2006/main">
              <a:ext uri="{FF2B5EF4-FFF2-40B4-BE49-F238E27FC236}">
                <a16:creationId xmlns:a16="http://schemas.microsoft.com/office/drawing/2014/main" id="{7E2BCA6C-B3AF-4C8F-80CE-DC391FD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188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221A6C94-F05C-442C-A5BC-00CD36B4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73CF0BF6-421A-49C1-ABCB-39079181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3367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확인과 ROI</a:t>
            </a:r>
          </a:p>
        </p:txBody>
      </p:sp>
      <p:sp>
        <p:nvSpPr>
          <p:cNvPr id="23" name="step-4-detail">
            <a:extLst xmlns:a="http://schemas.openxmlformats.org/drawingml/2006/main">
              <a:ext uri="{FF2B5EF4-FFF2-40B4-BE49-F238E27FC236}">
                <a16:creationId xmlns:a16="http://schemas.microsoft.com/office/drawing/2014/main" id="{DA9491F2-3443-4228-BA8E-C7614214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81375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색상 오버레이 확인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필요한 구역 지정</a:t>
            </a:r>
          </a:p>
        </p:txBody>
      </p:sp>
      <p:sp>
        <p:nvSpPr>
          <p:cNvPr id="24" name="step-5-저장과 공유">
            <a:extLst xmlns:a="http://schemas.openxmlformats.org/drawingml/2006/main">
              <a:ext uri="{FF2B5EF4-FFF2-40B4-BE49-F238E27FC236}">
                <a16:creationId xmlns:a16="http://schemas.microsoft.com/office/drawing/2014/main" id="{97B4692E-1121-45F4-AD15-E367C95E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52625"/>
            <a:ext cx="188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08C5724E-3A2F-4359-9D46-8A8D00B7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E1F3A23C-76D9-4FA6-9D47-8C1FE9D3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3367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저장과 공유</a:t>
            </a:r>
          </a:p>
        </p:txBody>
      </p:sp>
      <p:sp>
        <p:nvSpPr>
          <p:cNvPr id="27" name="step-5-detail">
            <a:extLst xmlns:a="http://schemas.openxmlformats.org/drawingml/2006/main">
              <a:ext uri="{FF2B5EF4-FFF2-40B4-BE49-F238E27FC236}">
                <a16:creationId xmlns:a16="http://schemas.microsoft.com/office/drawing/2014/main" id="{41FE4C33-747E-4EBA-BA7B-F35D751D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81375"/>
            <a:ext cx="1543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HTML · Excel · CSV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이미지 · 일일 요약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E09A83-A05C-410F-BBB2-5D3E66A0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768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9" name="simple-note-left">
            <a:extLst xmlns:a="http://schemas.openxmlformats.org/drawingml/2006/main">
              <a:ext uri="{FF2B5EF4-FFF2-40B4-BE49-F238E27FC236}">
                <a16:creationId xmlns:a16="http://schemas.microsoft.com/office/drawing/2014/main" id="{8EC85B66-57E6-424B-A19E-5CB8EFBC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클러스터링은 정규화된 Raw DN이 기본값</a:t>
            </a:r>
          </a:p>
        </p:txBody>
      </p:sp>
      <p:sp>
        <p:nvSpPr>
          <p:cNvPr id="30" name="simple-note-right">
            <a:extLst xmlns:a="http://schemas.openxmlformats.org/drawingml/2006/main">
              <a:ext uri="{FF2B5EF4-FFF2-40B4-BE49-F238E27FC236}">
                <a16:creationId xmlns:a16="http://schemas.microsoft.com/office/drawing/2014/main" id="{B278C2C1-D973-42B8-BB9C-49863F65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578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최종 스펙트럼은 QC를 통과한 보정 반사율을 함께 저장</a:t>
            </a:r>
          </a:p>
        </p:txBody>
      </p:sp>
      <p:sp>
        <p:nvSpPr>
          <p:cNvPr id="31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1C488C9-1D7C-42C1-89EB-6549D32B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9949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17FCA5-019E-4931-8E58-342F16A1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detail-title">
            <a:extLst xmlns:a="http://schemas.openxmlformats.org/drawingml/2006/main">
              <a:ext uri="{FF2B5EF4-FFF2-40B4-BE49-F238E27FC236}">
                <a16:creationId xmlns:a16="http://schemas.microsoft.com/office/drawing/2014/main" id="{0190F782-A8C1-4A72-93FC-076A5BD6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보정은 검증하고, 실패한 ROI만 다시 분석한다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5A185-C7AD-4830-BA11-C8901D3D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6ED0C-439D-4F6A-AF4E-690D1DD7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7187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lane-background-1">
            <a:extLst xmlns:a="http://schemas.openxmlformats.org/drawingml/2006/main">
              <a:ext uri="{FF2B5EF4-FFF2-40B4-BE49-F238E27FC236}">
                <a16:creationId xmlns:a16="http://schemas.microsoft.com/office/drawing/2014/main" id="{06D7A43F-ADBB-4C3D-BA2F-ACFF63DB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33718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lane-heading-1">
            <a:extLst xmlns:a="http://schemas.openxmlformats.org/drawingml/2006/main">
              <a:ext uri="{FF2B5EF4-FFF2-40B4-BE49-F238E27FC236}">
                <a16:creationId xmlns:a16="http://schemas.microsoft.com/office/drawing/2014/main" id="{A7E5B57F-17A1-4D93-BA6C-534A4E5E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1 · INPUT &amp; CALIBRATION</a:t>
            </a:r>
          </a:p>
        </p:txBody>
      </p:sp>
      <p:sp>
        <p:nvSpPr>
          <p:cNvPr id="7" name="lane-background-2">
            <a:extLst xmlns:a="http://schemas.openxmlformats.org/drawingml/2006/main">
              <a:ext uri="{FF2B5EF4-FFF2-40B4-BE49-F238E27FC236}">
                <a16:creationId xmlns:a16="http://schemas.microsoft.com/office/drawing/2014/main" id="{53F97D3B-DE09-404C-A244-50DED14C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428750"/>
            <a:ext cx="33718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lane-heading-2">
            <a:extLst xmlns:a="http://schemas.openxmlformats.org/drawingml/2006/main">
              <a:ext uri="{FF2B5EF4-FFF2-40B4-BE49-F238E27FC236}">
                <a16:creationId xmlns:a16="http://schemas.microsoft.com/office/drawing/2014/main" id="{9DD06A48-ECBA-49B7-97E5-30F323A5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097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2 · GLOBAL ANALYSIS</a:t>
            </a:r>
          </a:p>
        </p:txBody>
      </p:sp>
      <p:sp>
        <p:nvSpPr>
          <p:cNvPr id="9" name="lane-background-3">
            <a:extLst xmlns:a="http://schemas.openxmlformats.org/drawingml/2006/main">
              <a:ext uri="{FF2B5EF4-FFF2-40B4-BE49-F238E27FC236}">
                <a16:creationId xmlns:a16="http://schemas.microsoft.com/office/drawing/2014/main" id="{E17C8CCC-453D-4874-AA16-19B10477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3718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ane-heading-3">
            <a:extLst xmlns:a="http://schemas.openxmlformats.org/drawingml/2006/main">
              <a:ext uri="{FF2B5EF4-FFF2-40B4-BE49-F238E27FC236}">
                <a16:creationId xmlns:a16="http://schemas.microsoft.com/office/drawing/2014/main" id="{3DC34D98-F141-45E4-AA3C-B168FE27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097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 · ROI &amp;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D1884-D9B9-41BE-AB0A-48925077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860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FA6D0-55CB-41D3-8D5B-B2313A1C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671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E2858-2C71-4D11-8B3E-9DA17D71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860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7A9A8-AA01-4281-8C41-8FDF2FBF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671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F32F5-E257-4E5B-AE35-539ECD76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860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C95EB-1762-49FF-BD84-EE8B5043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67175"/>
            <a:ext cx="2286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lane-데이터 선택">
            <a:extLst xmlns:a="http://schemas.openxmlformats.org/drawingml/2006/main">
              <a:ext uri="{FF2B5EF4-FFF2-40B4-BE49-F238E27FC236}">
                <a16:creationId xmlns:a16="http://schemas.microsoft.com/office/drawing/2014/main" id="{DFC5950E-F649-4DCD-BBB3-B947653B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lane-데이터 선택-title">
            <a:extLst xmlns:a="http://schemas.openxmlformats.org/drawingml/2006/main">
              <a:ext uri="{FF2B5EF4-FFF2-40B4-BE49-F238E27FC236}">
                <a16:creationId xmlns:a16="http://schemas.microsoft.com/office/drawing/2014/main" id="{F209E83E-38B7-476F-A9E1-709F903C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 선택</a:t>
            </a:r>
          </a:p>
        </p:txBody>
      </p:sp>
      <p:sp>
        <p:nvSpPr>
          <p:cNvPr id="19" name="lane-데이터 선택-detail">
            <a:extLst xmlns:a="http://schemas.openxmlformats.org/drawingml/2006/main">
              <a:ext uri="{FF2B5EF4-FFF2-40B4-BE49-F238E27FC236}">
                <a16:creationId xmlns:a16="http://schemas.microsoft.com/office/drawing/2014/main" id="{8342DA54-665A-4CA5-A04A-9B5F311C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5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CERES 내부 항목 또는 BIL/HDR</a:t>
            </a:r>
          </a:p>
        </p:txBody>
      </p:sp>
      <p:sp>
        <p:nvSpPr>
          <p:cNvPr id="20" name="lane-White + Dark">
            <a:extLst xmlns:a="http://schemas.openxmlformats.org/drawingml/2006/main">
              <a:ext uri="{FF2B5EF4-FFF2-40B4-BE49-F238E27FC236}">
                <a16:creationId xmlns:a16="http://schemas.microsoft.com/office/drawing/2014/main" id="{924D60A2-134C-4F6C-9CBC-ABFBD57B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lane-White + Dark-title">
            <a:extLst xmlns:a="http://schemas.openxmlformats.org/drawingml/2006/main">
              <a:ext uri="{FF2B5EF4-FFF2-40B4-BE49-F238E27FC236}">
                <a16:creationId xmlns:a16="http://schemas.microsoft.com/office/drawing/2014/main" id="{4B012A54-5AA4-4A70-98BD-289F3319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White + Dark</a:t>
            </a:r>
          </a:p>
        </p:txBody>
      </p:sp>
      <p:sp>
        <p:nvSpPr>
          <p:cNvPr id="22" name="lane-White + Dark-detail">
            <a:extLst xmlns:a="http://schemas.openxmlformats.org/drawingml/2006/main">
              <a:ext uri="{FF2B5EF4-FFF2-40B4-BE49-F238E27FC236}">
                <a16:creationId xmlns:a16="http://schemas.microsoft.com/office/drawing/2014/main" id="{7D56DB59-74CD-4F74-98D6-55643D0D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패널 ROI와 Sensor Dark 입력</a:t>
            </a:r>
          </a:p>
        </p:txBody>
      </p:sp>
      <p:sp>
        <p:nvSpPr>
          <p:cNvPr id="23" name="lane-calibration.npz + QC">
            <a:extLst xmlns:a="http://schemas.openxmlformats.org/drawingml/2006/main">
              <a:ext uri="{FF2B5EF4-FFF2-40B4-BE49-F238E27FC236}">
                <a16:creationId xmlns:a16="http://schemas.microsoft.com/office/drawing/2014/main" id="{7CDB5EF0-03A3-447F-8725-C658DACC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4" name="lane-calibration.npz + QC-title">
            <a:extLst xmlns:a="http://schemas.openxmlformats.org/drawingml/2006/main">
              <a:ext uri="{FF2B5EF4-FFF2-40B4-BE49-F238E27FC236}">
                <a16:creationId xmlns:a16="http://schemas.microsoft.com/office/drawing/2014/main" id="{A1ED4FAF-55D8-46E5-9D9E-69505FCE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calibration.npz + QC</a:t>
            </a:r>
          </a:p>
        </p:txBody>
      </p:sp>
      <p:sp>
        <p:nvSpPr>
          <p:cNvPr id="25" name="lane-calibration.npz + QC-detail">
            <a:extLst xmlns:a="http://schemas.openxmlformats.org/drawingml/2006/main">
              <a:ext uri="{FF2B5EF4-FFF2-40B4-BE49-F238E27FC236}">
                <a16:creationId xmlns:a16="http://schemas.microsoft.com/office/drawing/2014/main" id="{655332F3-3BBA-46BE-BE5C-A71CFA83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포화 · 800 nm 계단 점프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유효 파장과 연속성 확인</a:t>
            </a:r>
          </a:p>
        </p:txBody>
      </p:sp>
      <p:sp>
        <p:nvSpPr>
          <p:cNvPr id="26" name="lane-RGB / 빠른 미리보기">
            <a:extLst xmlns:a="http://schemas.openxmlformats.org/drawingml/2006/main">
              <a:ext uri="{FF2B5EF4-FFF2-40B4-BE49-F238E27FC236}">
                <a16:creationId xmlns:a16="http://schemas.microsoft.com/office/drawing/2014/main" id="{1012ED45-E081-4E3F-B8BE-B60B1F76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lane-RGB / 빠른 미리보기-title">
            <a:extLst xmlns:a="http://schemas.openxmlformats.org/drawingml/2006/main">
              <a:ext uri="{FF2B5EF4-FFF2-40B4-BE49-F238E27FC236}">
                <a16:creationId xmlns:a16="http://schemas.microsoft.com/office/drawing/2014/main" id="{E6617066-844D-487E-B198-E4328FFB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907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RGB / 빠른 미리보기</a:t>
            </a:r>
          </a:p>
        </p:txBody>
      </p:sp>
      <p:sp>
        <p:nvSpPr>
          <p:cNvPr id="28" name="lane-RGB / 빠른 미리보기-detail">
            <a:extLst xmlns:a="http://schemas.openxmlformats.org/drawingml/2006/main">
              <a:ext uri="{FF2B5EF4-FFF2-40B4-BE49-F238E27FC236}">
                <a16:creationId xmlns:a16="http://schemas.microsoft.com/office/drawing/2014/main" id="{443578B8-3510-4951-B73A-9F9C8591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33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42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대용량 영상도 먼저 가볍게 확인</a:t>
            </a:r>
          </a:p>
        </p:txBody>
      </p:sp>
      <p:sp>
        <p:nvSpPr>
          <p:cNvPr id="29" name="lane-분석 데이터 선택">
            <a:extLst xmlns:a="http://schemas.openxmlformats.org/drawingml/2006/main">
              <a:ext uri="{FF2B5EF4-FFF2-40B4-BE49-F238E27FC236}">
                <a16:creationId xmlns:a16="http://schemas.microsoft.com/office/drawing/2014/main" id="{E83D1180-7DAA-46C8-894F-C8BFCB4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670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lane-분석 데이터 선택-title">
            <a:extLst xmlns:a="http://schemas.openxmlformats.org/drawingml/2006/main">
              <a:ext uri="{FF2B5EF4-FFF2-40B4-BE49-F238E27FC236}">
                <a16:creationId xmlns:a16="http://schemas.microsoft.com/office/drawing/2014/main" id="{18F70B43-EABA-49BD-B058-A816DDC1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62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분석 데이터 선택</a:t>
            </a:r>
          </a:p>
        </p:txBody>
      </p:sp>
      <p:sp>
        <p:nvSpPr>
          <p:cNvPr id="31" name="lane-분석 데이터 선택-detail">
            <a:extLst xmlns:a="http://schemas.openxmlformats.org/drawingml/2006/main">
              <a:ext uri="{FF2B5EF4-FFF2-40B4-BE49-F238E27FC236}">
                <a16:creationId xmlns:a16="http://schemas.microsoft.com/office/drawing/2014/main" id="{CDBE83B3-17E0-4335-9B26-352A034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05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권장: 정규화 Raw DN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선택: 보정 반사율</a:t>
            </a:r>
          </a:p>
        </p:txBody>
      </p:sp>
      <p:sp>
        <p:nvSpPr>
          <p:cNvPr id="32" name="lane-전체 클러스터링">
            <a:extLst xmlns:a="http://schemas.openxmlformats.org/drawingml/2006/main">
              <a:ext uri="{FF2B5EF4-FFF2-40B4-BE49-F238E27FC236}">
                <a16:creationId xmlns:a16="http://schemas.microsoft.com/office/drawing/2014/main" id="{D888D3BF-3FF9-48E6-A97C-56561B38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3" name="lane-전체 클러스터링-title">
            <a:extLst xmlns:a="http://schemas.openxmlformats.org/drawingml/2006/main">
              <a:ext uri="{FF2B5EF4-FFF2-40B4-BE49-F238E27FC236}">
                <a16:creationId xmlns:a16="http://schemas.microsoft.com/office/drawing/2014/main" id="{4B5DA333-87BA-4C8A-B9FF-0C67DDEA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434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전체 클러스터링</a:t>
            </a:r>
          </a:p>
        </p:txBody>
      </p:sp>
      <p:sp>
        <p:nvSpPr>
          <p:cNvPr id="34" name="lane-전체 클러스터링-detail">
            <a:extLst xmlns:a="http://schemas.openxmlformats.org/drawingml/2006/main">
              <a:ext uri="{FF2B5EF4-FFF2-40B4-BE49-F238E27FC236}">
                <a16:creationId xmlns:a16="http://schemas.microsoft.com/office/drawing/2014/main" id="{D4F55E5D-5D5C-45EB-B79D-2ECF7F7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863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RGB + cluster overlay로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잎 · 토양 · 그림자 분리 확인</a:t>
            </a:r>
          </a:p>
        </p:txBody>
      </p:sp>
      <p:sp>
        <p:nvSpPr>
          <p:cNvPr id="35" name="lane-ROI 설정">
            <a:extLst xmlns:a="http://schemas.openxmlformats.org/drawingml/2006/main">
              <a:ext uri="{FF2B5EF4-FFF2-40B4-BE49-F238E27FC236}">
                <a16:creationId xmlns:a16="http://schemas.microsoft.com/office/drawing/2014/main" id="{44E416E2-CDF1-4D94-AA6D-3A5DBBCB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lane-ROI 설정-title">
            <a:extLst xmlns:a="http://schemas.openxmlformats.org/drawingml/2006/main">
              <a:ext uri="{FF2B5EF4-FFF2-40B4-BE49-F238E27FC236}">
                <a16:creationId xmlns:a16="http://schemas.microsoft.com/office/drawing/2014/main" id="{BDF1701A-6382-4741-AFDC-50AD2139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907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ROI 설정</a:t>
            </a:r>
          </a:p>
        </p:txBody>
      </p:sp>
      <p:sp>
        <p:nvSpPr>
          <p:cNvPr id="37" name="lane-ROI 설정-detail">
            <a:extLst xmlns:a="http://schemas.openxmlformats.org/drawingml/2006/main">
              <a:ext uri="{FF2B5EF4-FFF2-40B4-BE49-F238E27FC236}">
                <a16:creationId xmlns:a16="http://schemas.microsoft.com/office/drawing/2014/main" id="{BE0838D1-2ED7-4107-9A3F-7DD4A069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42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박스 또는 폴리곤으로 구역 지정</a:t>
            </a:r>
          </a:p>
        </p:txBody>
      </p:sp>
      <p:sp>
        <p:nvSpPr>
          <p:cNvPr id="38" name="lane-품질에 따라 분기">
            <a:extLst xmlns:a="http://schemas.openxmlformats.org/drawingml/2006/main">
              <a:ext uri="{FF2B5EF4-FFF2-40B4-BE49-F238E27FC236}">
                <a16:creationId xmlns:a16="http://schemas.microsoft.com/office/drawing/2014/main" id="{3316F38E-7056-4DA9-BAEB-1E03D8C0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lane-품질에 따라 분기-title">
            <a:extLst xmlns:a="http://schemas.openxmlformats.org/drawingml/2006/main">
              <a:ext uri="{FF2B5EF4-FFF2-40B4-BE49-F238E27FC236}">
                <a16:creationId xmlns:a16="http://schemas.microsoft.com/office/drawing/2014/main" id="{14D03508-7792-4346-9471-6FC79E13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품질에 따라 분기</a:t>
            </a:r>
          </a:p>
        </p:txBody>
      </p:sp>
      <p:sp>
        <p:nvSpPr>
          <p:cNvPr id="40" name="lane-품질에 따라 분기-detail">
            <a:extLst xmlns:a="http://schemas.openxmlformats.org/drawingml/2006/main">
              <a:ext uri="{FF2B5EF4-FFF2-40B4-BE49-F238E27FC236}">
                <a16:creationId xmlns:a16="http://schemas.microsoft.com/office/drawing/2014/main" id="{3A098113-67BD-49F3-A83F-D2B05D8E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05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양호 → 추출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문제 → ROI 재클러스터링</a:t>
            </a:r>
          </a:p>
        </p:txBody>
      </p:sp>
      <p:sp>
        <p:nvSpPr>
          <p:cNvPr id="41" name="lane-결과 저장">
            <a:extLst xmlns:a="http://schemas.openxmlformats.org/drawingml/2006/main">
              <a:ext uri="{FF2B5EF4-FFF2-40B4-BE49-F238E27FC236}">
                <a16:creationId xmlns:a16="http://schemas.microsoft.com/office/drawing/2014/main" id="{BE97BD14-B150-4DED-9E70-44478839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481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2" name="lane-결과 저장-title">
            <a:extLst xmlns:a="http://schemas.openxmlformats.org/drawingml/2006/main">
              <a:ext uri="{FF2B5EF4-FFF2-40B4-BE49-F238E27FC236}">
                <a16:creationId xmlns:a16="http://schemas.microsoft.com/office/drawing/2014/main" id="{5AB7CBDB-78E3-433B-9DD5-714FDCFE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434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43" name="lane-결과 저장-detail">
            <a:extLst xmlns:a="http://schemas.openxmlformats.org/drawingml/2006/main">
              <a:ext uri="{FF2B5EF4-FFF2-40B4-BE49-F238E27FC236}">
                <a16:creationId xmlns:a16="http://schemas.microsoft.com/office/drawing/2014/main" id="{2AC27B82-950F-461E-96A5-1FD871E5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863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Raw + calibrated spectra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HTML · Excel · CSV · PNG</a:t>
            </a:r>
          </a:p>
          <a:p xmlns:a="http://schemas.openxmlformats.org/drawingml/2006/main">
            <a:pPr algn="l">
              <a:def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613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파일별 + 하루 단위 요약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6F439C-632C-4E93-A14D-1E80EBDA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6740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solidFill>
              <a:srgbClr val="DDF3FC"/>
            </a:solidFill>
            <a:prstDash val="solid"/>
          </a:ln>
        </p:spPr>
      </p:sp>
      <p:sp>
        <p:nvSpPr>
          <p:cNvPr id="45" name="detail-bottom-note">
            <a:extLst xmlns:a="http://schemas.openxmlformats.org/drawingml/2006/main">
              <a:ext uri="{FF2B5EF4-FFF2-40B4-BE49-F238E27FC236}">
                <a16:creationId xmlns:a16="http://schemas.microsoft.com/office/drawing/2014/main" id="{E66BCDFA-5C29-4C80-8F4C-B0181A77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QC PASS인 calibration.npz가 있으면, 최종 스펙트럼과 식생지수는 보정 반사율을 기준으로 기록</a:t>
            </a:r>
          </a:p>
        </p:txBody>
      </p:sp>
      <p:sp>
        <p:nvSpPr>
          <p:cNvPr id="46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297B99DA-879E-44DA-A55A-4C5AC74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16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954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2026-08-31T12:27:02.4570000Z</dcterms:created>
  <dcterms:modified xsi:type="dcterms:W3CDTF">2026-08-31T12:27:02.4570000Z</dcterms:modified>
</coreProperties>
</file>